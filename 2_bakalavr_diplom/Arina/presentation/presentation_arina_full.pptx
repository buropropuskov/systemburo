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media/media2.svg" ContentType="image/svg+xml"/>
  <Override PartName="/ppt/media/media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9" r:id="rId25"/>
    <p:sldId id="270" r:id="rId26"/>
    <p:sldId id="271" r:id="rId27"/>
    <p:sldId id="272" r:id="rId28"/>
    <p:sldId id="273" r:id="rId29"/>
    <p:sldId id="274" r:id="rId30"/>
    <p:sldId id="275" r:id="rId31"/>
  </p:sldIdLst>
  <p:sldSz cx="12192000" cy="6858000"/>
  <p:notesSz cx="12192000" cy="6858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Verdana" panose="020B0604030504040204" pitchFamily="34" charset="0"/>
      <p:regular r:id="rId14"/>
      <p:bold r:id="rId15"/>
      <p:italic r:id="rId16"/>
      <p:boldItalic r:id="rId17"/>
    </p:embeddedFont>
    <p:embeddedFont>
      <p:font typeface="DIN Pro Regular" panose="020B0504020101020102" charset="-52"/>
      <p:regular r:id="rId18"/>
      <p:italic r:id="rId19"/>
      <p:boldItalic r:id="rId20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>
          <p15:clr>
            <a:srgbClr val="A4A3A4"/>
          </p15:clr>
        </p15:guide>
        <p15:guide id="2" pos="2479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1162">
          <p15:clr>
            <a:srgbClr val="A4A3A4"/>
          </p15:clr>
        </p15:guide>
        <p15:guide id="5" orient="horz" pos="1366">
          <p15:clr>
            <a:srgbClr val="A4A3A4"/>
          </p15:clr>
        </p15:guide>
        <p15:guide id="6" pos="5518">
          <p15:clr>
            <a:srgbClr val="A4A3A4"/>
          </p15:clr>
        </p15:guide>
        <p15:guide id="7" orient="horz" pos="2341">
          <p15:clr>
            <a:srgbClr val="A4A3A4"/>
          </p15:clr>
        </p15:guide>
        <p15:guide id="8" orient="horz" pos="2591">
          <p15:clr>
            <a:srgbClr val="A4A3A4"/>
          </p15:clr>
        </p15:guide>
        <p15:guide id="9" orient="horz" pos="2523">
          <p15:clr>
            <a:srgbClr val="A4A3A4"/>
          </p15:clr>
        </p15:guide>
        <p15:guide id="10" pos="6698">
          <p15:clr>
            <a:srgbClr val="A4A3A4"/>
          </p15:clr>
        </p15:guide>
        <p15:guide id="11" orient="horz" pos="1117">
          <p15:clr>
            <a:srgbClr val="A4A3A4"/>
          </p15:clr>
        </p15:guide>
        <p15:guide id="12" orient="horz" pos="436">
          <p15:clr>
            <a:srgbClr val="A4A3A4"/>
          </p15:clr>
        </p15:guide>
        <p15:guide id="13" pos="5450">
          <p15:clr>
            <a:srgbClr val="A4A3A4"/>
          </p15:clr>
        </p15:guide>
        <p15:guide id="14" orient="horz" pos="1253">
          <p15:clr>
            <a:srgbClr val="A4A3A4"/>
          </p15:clr>
        </p15:guide>
        <p15:guide id="15" pos="6176">
          <p15:clr>
            <a:srgbClr val="A4A3A4"/>
          </p15:clr>
        </p15:guide>
        <p15:guide id="16" pos="1527">
          <p15:clr>
            <a:srgbClr val="A4A3A4"/>
          </p15:clr>
        </p15:guide>
        <p15:guide id="17" pos="3092">
          <p15:clr>
            <a:srgbClr val="A4A3A4"/>
          </p15:clr>
        </p15:guide>
        <p15:guide id="18" pos="5382">
          <p15:clr>
            <a:srgbClr val="A4A3A4"/>
          </p15:clr>
        </p15:guide>
        <p15:guide id="19" pos="960">
          <p15:clr>
            <a:srgbClr val="A4A3A4"/>
          </p15:clr>
        </p15:guide>
        <p15:guide id="20" pos="2434">
          <p15:clr>
            <a:srgbClr val="A4A3A4"/>
          </p15:clr>
        </p15:guide>
        <p15:guide id="21" orient="horz" pos="2047">
          <p15:clr>
            <a:srgbClr val="A4A3A4"/>
          </p15:clr>
        </p15:guide>
        <p15:guide id="22" pos="1277">
          <p15:clr>
            <a:srgbClr val="A4A3A4"/>
          </p15:clr>
        </p15:guide>
        <p15:guide id="23" pos="40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38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6800" cy="46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9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0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1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2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3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4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5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6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7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8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39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0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1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2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3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4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5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6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7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8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9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0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1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2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Основной цвет</a:t>
            </a:r>
            <a:endParaRPr/>
          </a:p>
        </p:txBody>
      </p:sp>
      <p:sp>
        <p:nvSpPr>
          <p:cNvPr id="53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Дополнительный цвет</a:t>
            </a:r>
            <a:endParaRPr/>
          </a:p>
        </p:txBody>
      </p:sp>
      <p:sp>
        <p:nvSpPr>
          <p:cNvPr id="54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Цвета университета</a:t>
            </a:r>
            <a:br>
              <a:rPr lang="ru-RU" sz="2400" baseline="30000"/>
            </a:br>
            <a:r>
              <a:rPr lang="ru-RU" sz="2400" baseline="30000"/>
              <a:t>и филиалов</a:t>
            </a:r>
            <a:endParaRPr/>
          </a:p>
        </p:txBody>
      </p:sp>
      <p:sp>
        <p:nvSpPr>
          <p:cNvPr id="55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/>
              <a:t>Градиент</a:t>
            </a:r>
            <a:endParaRPr/>
          </a:p>
        </p:txBody>
      </p:sp>
      <p:sp>
        <p:nvSpPr>
          <p:cNvPr id="56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Цвета институтов</a:t>
            </a:r>
            <a:endParaRPr/>
          </a:p>
        </p:txBody>
      </p:sp>
      <p:sp>
        <p:nvSpPr>
          <p:cNvPr id="5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 колледжа</a:t>
            </a:r>
            <a:endParaRPr/>
          </a:p>
        </p:txBody>
      </p:sp>
      <p:sp>
        <p:nvSpPr>
          <p:cNvPr id="58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ИИИ</a:t>
            </a:r>
            <a:endParaRPr/>
          </a:p>
        </p:txBody>
      </p:sp>
      <p:grpSp>
        <p:nvGrpSpPr>
          <p:cNvPr id="96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sp>
        <p:nvSpPr>
          <p:cNvPr id="63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ru-RU" sz="2400" baseline="30000"/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97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68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72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2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3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5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  <p:grpSp>
        <p:nvGrpSpPr>
          <p:cNvPr id="94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ru-RU" sz="2400" baseline="30000"/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/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1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8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pt)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33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2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44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5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pt)</a:t>
            </a:r>
            <a:endParaRPr/>
          </a:p>
        </p:txBody>
      </p:sp>
      <p:sp>
        <p:nvSpPr>
          <p:cNvPr id="46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 marL="144000" indent="-144000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6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34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3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27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3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DIN Pro Medium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38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sp>
        <p:nvSpPr>
          <p:cNvPr id="6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6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Medium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20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" name="Рисунок 8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sp>
        <p:nvSpPr>
          <p:cNvPr id="55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57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58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60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DIN Pro Medium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61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" name="Рисунок 6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sp>
        <p:nvSpPr>
          <p:cNvPr id="4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6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20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DIN Pro Medium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28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sp>
        <p:nvSpPr>
          <p:cNvPr id="12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9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Medium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21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sp>
        <p:nvSpPr>
          <p:cNvPr id="12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21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DIN Pro Medium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23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368869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DIN Pro Medium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DIN Pro Medium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10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sp>
        <p:nvSpPr>
          <p:cNvPr id="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Medium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16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46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4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DIN Pro Medium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pt)</a:t>
            </a:r>
            <a:endParaRPr/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object 4"/>
          <p:cNvPicPr/>
          <p:nvPr userDrawn="1"/>
        </p:nvPicPr>
        <p:blipFill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DIN Pro Medium"/>
              <a:ea typeface="+mj-ea"/>
              <a:cs typeface="+mj-cs"/>
            </a:endParaRPr>
          </a:p>
        </p:txBody>
      </p:sp>
      <p:sp>
        <p:nvSpPr>
          <p:cNvPr id="6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sp>
        <p:nvSpPr>
          <p:cNvPr id="7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DIN Pro Regular"/>
              <a:ea typeface="+mn-ea"/>
              <a:cs typeface="+mn-cs"/>
            </a:endParaRPr>
          </a:p>
        </p:txBody>
      </p:sp>
      <p:pic>
        <p:nvPicPr>
          <p:cNvPr id="8" name="object 214"/>
          <p:cNvPicPr/>
          <p:nvPr userDrawn="1"/>
        </p:nvPicPr>
        <p:blipFill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9" name="object 215"/>
          <p:cNvPicPr/>
          <p:nvPr userDrawn="1"/>
        </p:nvPicPr>
        <p:blipFill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446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</a:defRPr>
            </a:lvl1pPr>
            <a:lvl2pPr marL="457224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8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pt) 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46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006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015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2022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6029" indent="-144006" algn="l" defTabSz="914446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media1.svg"/><Relationship Id="rId5" Type="http://schemas.openxmlformats.org/officeDocument/2006/relationships/image" Target="../media/image26.png"/><Relationship Id="rId6" Type="http://schemas.openxmlformats.org/officeDocument/2006/relationships/image" Target="../media/media2.svg"/><Relationship Id="rId7" Type="http://schemas.openxmlformats.org/officeDocument/2006/relationships/image" Target="../media/image27.png"/><Relationship Id="rId8" Type="http://schemas.openxmlformats.org/officeDocument/2006/relationships/image" Target="../media/media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Заголовок 1"/>
          <p:cNvSpPr>
            <a:spLocks noGrp="1"/>
          </p:cNvSpPr>
          <p:nvPr/>
        </p:nvSpPr>
        <p:spPr bwMode="auto">
          <a:xfrm>
            <a:off x="914166" y="1257576"/>
            <a:ext cx="8309205" cy="11741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b="0" i="0" u="none" strike="noStrike" cap="all" spc="0">
                <a:ln>
                  <a:noFill/>
                </a:ln>
                <a:latin typeface="Times New Roman"/>
                <a:cs typeface="Times New Roman"/>
              </a:rPr>
              <a:t>МИНОБРНАУКИ РОССИИ</a:t>
            </a:r>
            <a:r>
              <a:rPr lang="en-US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/>
            </a:r>
            <a:br>
              <a:rPr lang="en-US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учреждение</a:t>
            </a:r>
            <a:b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высшего образования</a:t>
            </a:r>
            <a:b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1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«МИРЭА – Российский технологический университет»</a:t>
            </a:r>
            <a: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/>
            </a:r>
            <a:br>
              <a:rPr lang="ru-RU" sz="2000" b="0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</a:br>
            <a:r>
              <a:rPr lang="ru-RU" sz="2000" b="1" i="0" u="none" strike="noStrike" cap="none" spc="0">
                <a:ln>
                  <a:noFill/>
                </a:ln>
                <a:latin typeface="Times New Roman"/>
                <a:ea typeface="Times New Roman"/>
                <a:cs typeface="Times New Roman"/>
              </a:rPr>
              <a:t>РТУ МИРЭА</a:t>
            </a:r>
            <a:endParaRPr lang="ru-RU" sz="200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1149911" y="2428979"/>
            <a:ext cx="772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>
                <a:latin typeface="Times New Roman"/>
                <a:cs typeface="Times New Roman"/>
              </a:rPr>
              <a:t>Институт перспективных технологий и индустриального программирования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1966081" y="2798311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>
                <a:latin typeface="Times New Roman"/>
                <a:cs typeface="Times New Roman"/>
              </a:rPr>
              <a:t>Кафедра индустриального программирования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1966081" y="3127654"/>
            <a:ext cx="82606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b="1" dirty="0">
                <a:latin typeface="Times New Roman"/>
                <a:cs typeface="Times New Roman"/>
              </a:rPr>
              <a:t>«Система автоматизированного анализа документов на основе </a:t>
            </a:r>
            <a:r>
              <a:rPr lang="ru-RU" sz="2800" b="1" dirty="0" err="1">
                <a:latin typeface="Times New Roman"/>
                <a:cs typeface="Times New Roman"/>
              </a:rPr>
              <a:t>стартапа</a:t>
            </a:r>
            <a:r>
              <a:rPr lang="ru-RU" sz="2800" b="1" dirty="0">
                <a:latin typeface="Times New Roman"/>
                <a:cs typeface="Times New Roman"/>
              </a:rPr>
              <a:t> Dockee для выявления рисков и признаков мошенничества»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6010874" y="4384231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Подготовил:</a:t>
            </a:r>
            <a:endParaRPr dirty="0"/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студент группы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ЭФБО-02-</a:t>
            </a:r>
            <a:r>
              <a:rPr lang="en-US" dirty="0" smtClean="0">
                <a:latin typeface="Times New Roman"/>
                <a:ea typeface="Verdana"/>
                <a:cs typeface="Times New Roman"/>
              </a:rPr>
              <a:t>2</a:t>
            </a:r>
            <a:r>
              <a:rPr lang="ru-RU" dirty="0">
                <a:latin typeface="Times New Roman"/>
                <a:ea typeface="Verdana"/>
                <a:cs typeface="Times New Roman"/>
              </a:rPr>
              <a:t>2</a:t>
            </a:r>
            <a:endParaRPr dirty="0"/>
          </a:p>
          <a:p>
            <a:pPr algn="r">
              <a:defRPr/>
            </a:pPr>
            <a:r>
              <a:rPr lang="ru-RU" dirty="0" err="1" smtClean="0">
                <a:latin typeface="Times New Roman"/>
                <a:ea typeface="Verdana"/>
                <a:cs typeface="Times New Roman"/>
              </a:rPr>
              <a:t>Кафанова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 А.С.</a:t>
            </a:r>
            <a:endParaRPr dirty="0"/>
          </a:p>
          <a:p>
            <a:pPr algn="r">
              <a:defRPr/>
            </a:pPr>
            <a:endParaRPr lang="ru-RU" dirty="0">
              <a:latin typeface="Times New Roman"/>
              <a:ea typeface="Verdana"/>
              <a:cs typeface="Times New Roman"/>
            </a:endParaRPr>
          </a:p>
          <a:p>
            <a:pPr algn="r">
              <a:defRPr/>
            </a:pPr>
            <a:r>
              <a:rPr lang="ru-RU" dirty="0">
                <a:latin typeface="Times New Roman"/>
                <a:ea typeface="Verdana"/>
                <a:cs typeface="Times New Roman"/>
              </a:rPr>
              <a:t>Руководитель:</a:t>
            </a:r>
            <a:endParaRPr dirty="0"/>
          </a:p>
          <a:p>
            <a:pPr algn="r">
              <a:defRPr/>
            </a:pPr>
            <a:r>
              <a:rPr lang="ru-RU" dirty="0" err="1">
                <a:latin typeface="Times New Roman"/>
                <a:ea typeface="Verdana"/>
                <a:cs typeface="Times New Roman"/>
              </a:rPr>
              <a:t>к</a:t>
            </a:r>
            <a:r>
              <a:rPr lang="ru-RU" dirty="0" err="1" smtClean="0">
                <a:latin typeface="Times New Roman"/>
                <a:ea typeface="Verdana"/>
                <a:cs typeface="Times New Roman"/>
              </a:rPr>
              <a:t>.пед.н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., доцент, доцент </a:t>
            </a:r>
            <a:r>
              <a:rPr lang="ru-RU" dirty="0">
                <a:latin typeface="Times New Roman"/>
                <a:ea typeface="Verdana"/>
                <a:cs typeface="Times New Roman"/>
              </a:rPr>
              <a:t>кафедры </a:t>
            </a:r>
            <a:r>
              <a:rPr lang="ru-RU" dirty="0" smtClean="0">
                <a:latin typeface="Times New Roman"/>
                <a:ea typeface="Verdana"/>
                <a:cs typeface="Times New Roman"/>
              </a:rPr>
              <a:t>ИП</a:t>
            </a:r>
            <a:endParaRPr dirty="0"/>
          </a:p>
          <a:p>
            <a:pPr algn="r">
              <a:defRPr/>
            </a:pPr>
            <a:r>
              <a:rPr lang="ru-RU" dirty="0" smtClean="0">
                <a:latin typeface="Times New Roman"/>
                <a:ea typeface="Verdana"/>
                <a:cs typeface="Times New Roman"/>
              </a:rPr>
              <a:t>Громов Е.В.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rot="16199999">
            <a:off x="6682342" y="1348340"/>
            <a:ext cx="6880621" cy="4138697"/>
          </a:xfrm>
          <a:prstGeom prst="rect">
            <a:avLst/>
          </a:prstGeom>
        </p:spPr>
      </p:pic>
      <p:sp>
        <p:nvSpPr>
          <p:cNvPr id="42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DIN Pro Regular"/>
                <a:ea typeface="+mn-ea"/>
                <a:cs typeface="+mn-cs"/>
              </a:rPr>
              <a:t>2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DIN Pro Regular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4" name="Группа 3"/>
          <p:cNvGrpSpPr/>
          <p:nvPr/>
        </p:nvGrpSpPr>
        <p:grpSpPr bwMode="auto">
          <a:xfrm>
            <a:off x="9743356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3" name="Полилиния: фигура 32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5" name="Полилиния: фигура 3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1" name="Полилиния: фигура 30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sp>
          <p:nvSpPr>
            <p:cNvPr id="14" name="Полилиния: фигура 1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DIN Pro Regular"/>
                <a:ea typeface="+mn-ea"/>
                <a:cs typeface="+mn-cs"/>
              </a:endParaRPr>
            </a:p>
          </p:txBody>
        </p:sp>
        <p:grpSp>
          <p:nvGrpSpPr>
            <p:cNvPr id="16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9" name="Полилиния: фигура 28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30" name="Полилиния: фигура 29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DIN Pro Regular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 bwMode="auto">
          <a:xfrm>
            <a:off x="281530" y="256082"/>
            <a:ext cx="7696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исследования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281530" y="1089886"/>
            <a:ext cx="76378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/>
            </a:pPr>
            <a:r>
              <a:rPr lang="ru-RU" sz="2000" dirty="0">
                <a:solidFill>
                  <a:srgbClr val="000000"/>
                </a:solidFill>
                <a:latin typeface="Times New Roman"/>
              </a:rPr>
              <a:t>Рынок </a:t>
            </a:r>
            <a:r>
              <a:rPr lang="ru-RU" sz="2000" dirty="0" err="1">
                <a:solidFill>
                  <a:srgbClr val="000000"/>
                </a:solidFill>
                <a:latin typeface="Times New Roman"/>
              </a:rPr>
              <a:t>LegalTech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 растёт,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</a:rPr>
              <a:t>конкуренция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смещается в сторону качества, надёжности и консолидации сервисов. </a:t>
            </a:r>
            <a:r>
              <a:rPr lang="ru-RU" sz="2000" dirty="0" err="1">
                <a:solidFill>
                  <a:srgbClr val="000000"/>
                </a:solidFill>
                <a:latin typeface="Times New Roman"/>
              </a:rPr>
              <a:t>Стартап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 должен не </a:t>
            </a:r>
            <a:r>
              <a:rPr lang="ru-RU" sz="2000" dirty="0" smtClean="0">
                <a:solidFill>
                  <a:srgbClr val="000000"/>
                </a:solidFill>
                <a:latin typeface="Times New Roman"/>
              </a:rPr>
              <a:t>только </a:t>
            </a:r>
            <a:r>
              <a:rPr lang="ru-RU" sz="2000" dirty="0">
                <a:solidFill>
                  <a:srgbClr val="000000"/>
                </a:solidFill>
                <a:latin typeface="Times New Roman"/>
              </a:rPr>
              <a:t>вывести продукт на рынок, а ещё и минимизировать риски, возникающие из-за ошибок в процессе разработки.</a:t>
            </a:r>
            <a:endParaRPr lang="ru-RU" sz="16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Прямоугольник: скругленные углы 9"/>
          <p:cNvSpPr/>
          <p:nvPr/>
        </p:nvSpPr>
        <p:spPr bwMode="auto">
          <a:xfrm>
            <a:off x="281530" y="3747210"/>
            <a:ext cx="2760955" cy="1619475"/>
          </a:xfrm>
          <a:prstGeom prst="roundRect">
            <a:avLst>
              <a:gd name="adj" fmla="val 16667"/>
            </a:avLst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dirty="0" smtClean="0">
                <a:ln w="0"/>
                <a:solidFill>
                  <a:schemeClr val="tx1"/>
                </a:solidFill>
                <a:latin typeface="Times New Roman"/>
                <a:cs typeface="Times New Roman"/>
              </a:rPr>
              <a:t>Автоматизация проверки документов для снижения рисков</a:t>
            </a:r>
            <a:endParaRPr dirty="0"/>
          </a:p>
        </p:txBody>
      </p:sp>
      <p:sp>
        <p:nvSpPr>
          <p:cNvPr id="34" name="Прямоугольник: скругленные углы 12"/>
          <p:cNvSpPr/>
          <p:nvPr/>
        </p:nvSpPr>
        <p:spPr bwMode="auto">
          <a:xfrm>
            <a:off x="4142772" y="3747209"/>
            <a:ext cx="2790997" cy="1619475"/>
          </a:xfrm>
          <a:prstGeom prst="roundRect">
            <a:avLst>
              <a:gd name="adj" fmla="val 16667"/>
            </a:avLst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dirty="0" smtClean="0">
                <a:solidFill>
                  <a:sysClr val="windowText" lastClr="000000"/>
                </a:solidFill>
                <a:latin typeface="Times New Roman"/>
                <a:cs typeface="Times New Roman"/>
              </a:rPr>
              <a:t>Повышение требований к тестированию</a:t>
            </a:r>
            <a:endParaRPr dirty="0"/>
          </a:p>
        </p:txBody>
      </p:sp>
      <p:sp>
        <p:nvSpPr>
          <p:cNvPr id="36" name="Прямоугольник: скругленные углы 13"/>
          <p:cNvSpPr/>
          <p:nvPr/>
        </p:nvSpPr>
        <p:spPr bwMode="auto">
          <a:xfrm>
            <a:off x="8169461" y="3747209"/>
            <a:ext cx="2705123" cy="1619475"/>
          </a:xfrm>
          <a:prstGeom prst="roundRect">
            <a:avLst>
              <a:gd name="adj" fmla="val 16667"/>
            </a:avLst>
          </a:prstGeom>
          <a:solidFill>
            <a:srgbClr val="F1D66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dirty="0" smtClean="0">
                <a:solidFill>
                  <a:sysClr val="windowText" lastClr="000000"/>
                </a:solidFill>
                <a:latin typeface="Times New Roman"/>
                <a:cs typeface="Times New Roman"/>
              </a:rPr>
              <a:t>Гарантия качества готового продукта</a:t>
            </a:r>
            <a:endParaRPr dirty="0"/>
          </a:p>
        </p:txBody>
      </p:sp>
      <p:sp>
        <p:nvSpPr>
          <p:cNvPr id="38" name="Знак ''плюс'' 15"/>
          <p:cNvSpPr/>
          <p:nvPr/>
        </p:nvSpPr>
        <p:spPr bwMode="auto">
          <a:xfrm>
            <a:off x="3132266" y="4113999"/>
            <a:ext cx="885896" cy="885896"/>
          </a:xfrm>
          <a:prstGeom prst="mathPlus">
            <a:avLst>
              <a:gd name="adj1" fmla="val 23520"/>
            </a:avLst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39" name="Знак ''плюс'' 16"/>
          <p:cNvSpPr/>
          <p:nvPr/>
        </p:nvSpPr>
        <p:spPr bwMode="auto">
          <a:xfrm>
            <a:off x="7033479" y="4113999"/>
            <a:ext cx="885896" cy="885896"/>
          </a:xfrm>
          <a:prstGeom prst="mathPlus">
            <a:avLst>
              <a:gd name="adj1" fmla="val 23520"/>
            </a:avLst>
          </a:prstGeom>
          <a:solidFill>
            <a:schemeClr val="bg1"/>
          </a:solidFill>
          <a:ln w="28575">
            <a:solidFill>
              <a:srgbClr val="B08C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Стрелка: вниз 25"/>
          <p:cNvSpPr/>
          <p:nvPr/>
        </p:nvSpPr>
        <p:spPr bwMode="auto">
          <a:xfrm rot="16199999">
            <a:off x="5185219" y="3903089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50" name="Стрелка: вниз 26"/>
          <p:cNvSpPr/>
          <p:nvPr/>
        </p:nvSpPr>
        <p:spPr bwMode="auto">
          <a:xfrm rot="16199999">
            <a:off x="5557508" y="4689813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55" name="Стрелка: вниз 22"/>
          <p:cNvSpPr/>
          <p:nvPr/>
        </p:nvSpPr>
        <p:spPr bwMode="auto">
          <a:xfrm rot="16199999">
            <a:off x="5185219" y="5476536"/>
            <a:ext cx="303320" cy="733527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latin typeface="Times New Roman"/>
              <a:cs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1162600" y="3955183"/>
            <a:ext cx="4167359" cy="2616101"/>
          </a:xfrm>
          <a:prstGeom prst="rect">
            <a:avLst/>
          </a:prstGeom>
          <a:solidFill>
            <a:schemeClr val="bg1">
              <a:alpha val="74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 bwMode="auto">
          <a:xfrm>
            <a:off x="517286" y="2001346"/>
            <a:ext cx="266036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>
                <a:latin typeface="Times New Roman"/>
                <a:cs typeface="Times New Roman"/>
              </a:rPr>
              <a:t>Объект исследования: 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ru-RU" dirty="0" smtClean="0">
                <a:latin typeface="Times New Roman"/>
                <a:cs typeface="Times New Roman"/>
              </a:rPr>
              <a:t>Процесс автоматизированной проверки документов</a:t>
            </a:r>
            <a:endParaRPr lang="ru-RU" b="1" dirty="0">
              <a:latin typeface="Times New Roman"/>
              <a:cs typeface="Times New Roman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3177649" y="2001346"/>
            <a:ext cx="287248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>
                <a:latin typeface="Times New Roman"/>
                <a:cs typeface="Times New Roman"/>
              </a:rPr>
              <a:t>Предмет исследования: </a:t>
            </a:r>
            <a:endParaRPr lang="en-US" sz="2000" b="1" dirty="0">
              <a:latin typeface="Times New Roman"/>
              <a:cs typeface="Times New Roman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рхитектура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методы обработки документов и интеграция с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ИИ-агентом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Прямоугольник 50"/>
          <p:cNvSpPr/>
          <p:nvPr/>
        </p:nvSpPr>
        <p:spPr bwMode="auto">
          <a:xfrm>
            <a:off x="6180363" y="1368044"/>
            <a:ext cx="5914003" cy="5448743"/>
          </a:xfrm>
          <a:prstGeom prst="rect">
            <a:avLst/>
          </a:prstGeom>
          <a:noFill/>
          <a:ln w="38100">
            <a:solidFill>
              <a:srgbClr val="F1D6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Провести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текущего состояния рынка и исследовательской базы в области решений и подходов к тестированию подобных систем.</a:t>
            </a: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Изучить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технологии тестирования веб-приложений, включая автоматизированные и ручные подходы к проверке клиентской и серверной частей, интеграций API и базы данных, а также пользовательского интерфейса.</a:t>
            </a: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Определить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и виды тестирования, сформулировать требования к тестированию.</a:t>
            </a: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Разработать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 тестирования, подготовить тестовые сценарии, наборы входных данных и критерии оценивания результатов прохождения тестов, включая подходы к проверке пользовательского интерфейса.</a:t>
            </a: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Выбрать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для автоматизированного тестирования в соответствии с разработанным планом и настроить CI/CD-процессы.</a:t>
            </a:r>
          </a:p>
          <a:p>
            <a:pPr algn="just">
              <a:defRPr/>
            </a:pPr>
            <a:r>
              <a:rPr lang="ru-RU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Обеспечивать 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поддерживать работу автоматизированных тестов, отслеживать их прохождение и результаты, включая модульное, интеграционное и UI-тестирование, а также провести оценку пользовательского интерфейса с точки зрения удобства, расположения элементов, эргономики и адаптивности.</a:t>
            </a:r>
          </a:p>
        </p:txBody>
      </p:sp>
      <p:pic>
        <p:nvPicPr>
          <p:cNvPr id="52" name="Рисунок 51" descr="Контрольный список со сплошной заливкой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4"/>
              </a:ext>
            </a:extLst>
          </a:blip>
          <a:stretch/>
        </p:blipFill>
        <p:spPr bwMode="auto">
          <a:xfrm>
            <a:off x="454907" y="4599376"/>
            <a:ext cx="914400" cy="914400"/>
          </a:xfrm>
          <a:prstGeom prst="rect">
            <a:avLst/>
          </a:prstGeom>
        </p:spPr>
      </p:pic>
      <p:pic>
        <p:nvPicPr>
          <p:cNvPr id="53" name="Рисунок 52" descr="Мозговой штурм группы контур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6"/>
              </a:ext>
            </a:extLst>
          </a:blip>
          <a:stretch/>
        </p:blipFill>
        <p:spPr bwMode="auto">
          <a:xfrm>
            <a:off x="2850675" y="1619659"/>
            <a:ext cx="914400" cy="914400"/>
          </a:xfrm>
          <a:prstGeom prst="rect">
            <a:avLst/>
          </a:prstGeom>
        </p:spPr>
      </p:pic>
      <p:pic>
        <p:nvPicPr>
          <p:cNvPr id="54" name="Рисунок 53" descr="Человек с идеей контур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m="http://schemas.openxmlformats.org/officeDocument/2006/math" xmlns:w="http://schemas.openxmlformats.org/wordprocessingml/2006/main" xmlns:asvg="http://schemas.microsoft.com/office/drawing/2016/SVG/main" r:embed="rId8"/>
              </a:ext>
            </a:extLst>
          </a:blip>
          <a:stretch/>
        </p:blipFill>
        <p:spPr bwMode="auto">
          <a:xfrm>
            <a:off x="463172" y="1593254"/>
            <a:ext cx="914400" cy="9144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 bwMode="auto">
          <a:xfrm>
            <a:off x="288653" y="3239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Объект, предмет, цель и задачи исследования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224195" y="3948319"/>
            <a:ext cx="41673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>
                <a:solidFill>
                  <a:srgbClr val="000000"/>
                </a:solidFill>
                <a:latin typeface="Times New Roman"/>
              </a:rPr>
              <a:t>Цель исследования:</a:t>
            </a:r>
            <a:endParaRPr lang="en-US" sz="2000" b="1" i="0" u="none" strike="noStrike" dirty="0">
              <a:solidFill>
                <a:srgbClr val="000000"/>
              </a:solidFill>
              <a:latin typeface="Times New Roman"/>
            </a:endParaRPr>
          </a:p>
          <a:p>
            <a:pPr algn="ctr">
              <a:defRPr/>
            </a:pPr>
            <a:r>
              <a:rPr lang="ru-RU" dirty="0" smtClean="0">
                <a:solidFill>
                  <a:srgbClr val="000000"/>
                </a:solidFill>
                <a:latin typeface="Times New Roman"/>
              </a:rPr>
              <a:t>Разработать </a:t>
            </a:r>
            <a:r>
              <a:rPr lang="ru-RU" dirty="0">
                <a:solidFill>
                  <a:srgbClr val="000000"/>
                </a:solidFill>
                <a:latin typeface="Times New Roman"/>
              </a:rPr>
              <a:t>систему автоматизированного анализа документов, которая позволит выявлять юридические и финансовые риски, несоответствие нормативным требованиям и признаки мошенничества с помощью интегрированного </a:t>
            </a:r>
            <a:r>
              <a:rPr lang="ru-RU" dirty="0" smtClean="0">
                <a:solidFill>
                  <a:srgbClr val="000000"/>
                </a:solidFill>
                <a:latin typeface="Times New Roman"/>
              </a:rPr>
              <a:t>ИИ-агента</a:t>
            </a:r>
            <a:endParaRPr lang="ru-RU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 bwMode="auto">
          <a:xfrm>
            <a:off x="288653" y="3239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рынка и существующих решений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88653" y="1355782"/>
            <a:ext cx="2778325" cy="9848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34,4 млрд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рынка в 2025 году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3292369" y="1355781"/>
            <a:ext cx="1595309" cy="9848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10,4%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CAGR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5252300" y="1355781"/>
            <a:ext cx="2795958" cy="9848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 млрд </a:t>
            </a:r>
            <a:r>
              <a:rPr lang="en-C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Российского рынка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8412880" y="1355780"/>
            <a:ext cx="2706190" cy="9848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95%</a:t>
            </a:r>
            <a:endParaRPr lang="en-US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Отечественные продукты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43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 bwMode="auto">
          <a:xfrm>
            <a:off x="288653" y="3239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Основы тестирования веб-приложений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88627"/>
              </p:ext>
            </p:extLst>
          </p:nvPr>
        </p:nvGraphicFramePr>
        <p:xfrm>
          <a:off x="288653" y="1376454"/>
          <a:ext cx="7843965" cy="36991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6604">
                  <a:extLst>
                    <a:ext uri="{9D8B030D-6E8A-4147-A177-3AD203B41FA5}">
                      <a16:colId xmlns:a16="http://schemas.microsoft.com/office/drawing/2014/main" val="786799733"/>
                    </a:ext>
                  </a:extLst>
                </a:gridCol>
                <a:gridCol w="2878072">
                  <a:extLst>
                    <a:ext uri="{9D8B030D-6E8A-4147-A177-3AD203B41FA5}">
                      <a16:colId xmlns:a16="http://schemas.microsoft.com/office/drawing/2014/main" val="3091844131"/>
                    </a:ext>
                  </a:extLst>
                </a:gridCol>
                <a:gridCol w="2729289">
                  <a:extLst>
                    <a:ext uri="{9D8B030D-6E8A-4147-A177-3AD203B41FA5}">
                      <a16:colId xmlns:a16="http://schemas.microsoft.com/office/drawing/2014/main" val="1392294393"/>
                    </a:ext>
                  </a:extLst>
                </a:gridCol>
              </a:tblGrid>
              <a:tr h="6126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 сравнения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Ручное тестирование</a:t>
                      </a:r>
                      <a:endParaRPr lang="ru-RU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7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Автоматизированное тестирование</a:t>
                      </a:r>
                      <a:endParaRPr lang="ru-RU" sz="17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4219416369"/>
                  </a:ext>
                </a:extLst>
              </a:tr>
              <a:tr h="3736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Трудность на старте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3741156757"/>
                  </a:ext>
                </a:extLst>
              </a:tr>
              <a:tr h="37365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Медленнее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Быстрее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2996204321"/>
                  </a:ext>
                </a:extLst>
              </a:tr>
              <a:tr h="9452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Повторяемость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Каждый раз с нуля, высокие затраты; результаты могут варьироваться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Возможно, запуск автоматический; результаты последовательны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3246617023"/>
                  </a:ext>
                </a:extLst>
              </a:tr>
              <a:tr h="5575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Возможны ошибки (человеческий фактор)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1951765420"/>
                  </a:ext>
                </a:extLst>
              </a:tr>
              <a:tr h="83637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 первоначальная, большие затраты при оплате труда в последующем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 первоначальная, меньшие затраты в последующем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633" marR="66633" marT="0" marB="0"/>
                </a:tc>
                <a:extLst>
                  <a:ext uri="{0D108BD9-81ED-4DB2-BD59-A6C34878D82A}">
                    <a16:rowId xmlns:a16="http://schemas.microsoft.com/office/drawing/2014/main" val="16040137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8285019" y="1376454"/>
            <a:ext cx="3794629" cy="36933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 тестирование: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 (юнит)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Интеграционное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Системное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Приёмочное</a:t>
            </a:r>
          </a:p>
          <a:p>
            <a:pPr marL="285750" indent="-285750">
              <a:buFontTx/>
              <a:buChar char="-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Нефункциональное тестирование: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Производительности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Безопасности</a:t>
            </a: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Совместимости</a:t>
            </a:r>
          </a:p>
          <a:p>
            <a:pPr marL="285750" indent="-285750">
              <a:buFontTx/>
              <a:buChar char="-"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Юзабилити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Надёжности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288653" y="5384906"/>
            <a:ext cx="2680542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ctr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</a:t>
            </a:r>
            <a:endParaRPr lang="en-CA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проверка в браузере)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3181547" y="5384906"/>
            <a:ext cx="1923925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ctr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</a:t>
            </a:r>
            <a:endParaRPr lang="en-CA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логика, запросы)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5317824" y="5384905"/>
            <a:ext cx="2215671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CA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статусы, структура)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 bwMode="auto">
          <a:xfrm>
            <a:off x="7745847" y="5384905"/>
            <a:ext cx="2212465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ctr"/>
            <a:r>
              <a:rPr lang="ru-RU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  <a:endParaRPr lang="en-CA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C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миграции, запросы)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45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 bwMode="auto">
          <a:xfrm>
            <a:off x="288653" y="3239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 и архитектура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стартапа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25687"/>
              </p:ext>
            </p:extLst>
          </p:nvPr>
        </p:nvGraphicFramePr>
        <p:xfrm>
          <a:off x="288653" y="3061751"/>
          <a:ext cx="6416946" cy="282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8982">
                  <a:extLst>
                    <a:ext uri="{9D8B030D-6E8A-4147-A177-3AD203B41FA5}">
                      <a16:colId xmlns:a16="http://schemas.microsoft.com/office/drawing/2014/main" val="2958853644"/>
                    </a:ext>
                  </a:extLst>
                </a:gridCol>
                <a:gridCol w="2138982">
                  <a:extLst>
                    <a:ext uri="{9D8B030D-6E8A-4147-A177-3AD203B41FA5}">
                      <a16:colId xmlns:a16="http://schemas.microsoft.com/office/drawing/2014/main" val="3991610456"/>
                    </a:ext>
                  </a:extLst>
                </a:gridCol>
                <a:gridCol w="2138982">
                  <a:extLst>
                    <a:ext uri="{9D8B030D-6E8A-4147-A177-3AD203B41FA5}">
                      <a16:colId xmlns:a16="http://schemas.microsoft.com/office/drawing/2014/main" val="263196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Компонент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  <a:endParaRPr lang="ru-RU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Клиентская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часть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Vue.js 3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Интерфейс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66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Сборка клиента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Сборка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-сервер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98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Серверная часть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 + Gin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Бизнес логика,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898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База данных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данных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82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Объектное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хранилище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S3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документов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687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ИИ-агент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Deepseek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текста, вопросы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14772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288653" y="2240038"/>
            <a:ext cx="641694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был сформирован командой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рамках данной работы тестирование ведётся под него.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05599" y="2886369"/>
            <a:ext cx="5140037" cy="314113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 bwMode="auto">
          <a:xfrm>
            <a:off x="414338" y="6008954"/>
            <a:ext cx="7715574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модульного монолита упрощает тестирование каждого модуля.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88653" y="1128105"/>
            <a:ext cx="86228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веб-сервис для автоматизированной проверки юридических документов.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4338" y="1648691"/>
            <a:ext cx="1882247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Загрузка файлов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2389878" y="1644516"/>
            <a:ext cx="3230372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Анализ документов ИИ-агентом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5713543" y="1644516"/>
            <a:ext cx="2719014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Отображение результатов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8525850" y="1644516"/>
            <a:ext cx="3201517" cy="3385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Работа с рисками и проблемами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78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89612" y="0"/>
            <a:ext cx="1102388" cy="9087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 bwMode="auto">
          <a:xfrm>
            <a:off x="288653" y="323948"/>
            <a:ext cx="115569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тестированию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031354"/>
              </p:ext>
            </p:extLst>
          </p:nvPr>
        </p:nvGraphicFramePr>
        <p:xfrm>
          <a:off x="464639" y="1699277"/>
          <a:ext cx="5355590" cy="49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961">
                  <a:extLst>
                    <a:ext uri="{9D8B030D-6E8A-4147-A177-3AD203B41FA5}">
                      <a16:colId xmlns:a16="http://schemas.microsoft.com/office/drawing/2014/main" val="2452737960"/>
                    </a:ext>
                  </a:extLst>
                </a:gridCol>
                <a:gridCol w="2423886">
                  <a:extLst>
                    <a:ext uri="{9D8B030D-6E8A-4147-A177-3AD203B41FA5}">
                      <a16:colId xmlns:a16="http://schemas.microsoft.com/office/drawing/2014/main" val="2418022726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28891031"/>
                    </a:ext>
                  </a:extLst>
                </a:gridCol>
              </a:tblGrid>
              <a:tr h="405295"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Группа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Требование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56786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Регистрация по </a:t>
                      </a:r>
                      <a:r>
                        <a:rPr lang="ru-RU" sz="1500" dirty="0" err="1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</a:t>
                      </a: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паролю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19162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Аутентификация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Вход с выдачей JWT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  <a:p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781310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Документы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.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pdf/.</a:t>
                      </a:r>
                      <a:r>
                        <a:rPr lang="en-US" sz="1500" dirty="0" err="1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docx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/.txt </a:t>
                      </a: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 50 МБ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  <a:p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213781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Документы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Встроенный </a:t>
                      </a:r>
                      <a:r>
                        <a:rPr lang="ru-RU" sz="1500" dirty="0" err="1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просмотрщик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  <a:p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46194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Документы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NER-</a:t>
                      </a: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обезличивание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787532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Подсветка рисков цветом по уровню важности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76019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Список рисков с навигацией к фрагменту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542418"/>
                  </a:ext>
                </a:extLst>
              </a:tr>
              <a:tr h="54659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ИИ-помощник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Контекстный вопрос по выделенному фрагменту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329063"/>
                  </a:ext>
                </a:extLst>
              </a:tr>
              <a:tr h="334379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Отчетность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 отчётов в 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07179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464639" y="1277841"/>
            <a:ext cx="31245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Таблица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259707"/>
              </p:ext>
            </p:extLst>
          </p:nvPr>
        </p:nvGraphicFramePr>
        <p:xfrm>
          <a:off x="6248581" y="1699277"/>
          <a:ext cx="5355590" cy="4948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905">
                  <a:extLst>
                    <a:ext uri="{9D8B030D-6E8A-4147-A177-3AD203B41FA5}">
                      <a16:colId xmlns:a16="http://schemas.microsoft.com/office/drawing/2014/main" val="2452737960"/>
                    </a:ext>
                  </a:extLst>
                </a:gridCol>
                <a:gridCol w="1973943">
                  <a:extLst>
                    <a:ext uri="{9D8B030D-6E8A-4147-A177-3AD203B41FA5}">
                      <a16:colId xmlns:a16="http://schemas.microsoft.com/office/drawing/2014/main" val="2418022726"/>
                    </a:ext>
                  </a:extLst>
                </a:gridCol>
                <a:gridCol w="1516742">
                  <a:extLst>
                    <a:ext uri="{9D8B030D-6E8A-4147-A177-3AD203B41FA5}">
                      <a16:colId xmlns:a16="http://schemas.microsoft.com/office/drawing/2014/main" val="228891031"/>
                    </a:ext>
                  </a:extLst>
                </a:gridCol>
              </a:tblGrid>
              <a:tr h="410448"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Категория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Требование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Метрика</a:t>
                      </a:r>
                      <a:endParaRPr lang="ru-RU" sz="17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56786"/>
                  </a:ext>
                </a:extLst>
              </a:tr>
              <a:tr h="320459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Отклик 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200</a:t>
                      </a:r>
                      <a:r>
                        <a:rPr lang="ru-RU" sz="1500" baseline="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baseline="0" dirty="0" err="1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мс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19162"/>
                  </a:ext>
                </a:extLst>
              </a:tr>
              <a:tr h="385083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ответа 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=&lt; 200</a:t>
                      </a:r>
                      <a:r>
                        <a:rPr lang="ru-RU" sz="1500" baseline="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500" baseline="0" dirty="0" err="1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мс</a:t>
                      </a:r>
                      <a:endParaRPr lang="ru-RU" sz="1500" dirty="0" smtClean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781310"/>
                  </a:ext>
                </a:extLst>
              </a:tr>
              <a:tr h="553542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Одновременные пользователи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 100</a:t>
                      </a:r>
                      <a:endParaRPr lang="ru-RU" sz="1500" dirty="0" smtClean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213781"/>
                  </a:ext>
                </a:extLst>
              </a:tr>
              <a:tr h="553542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Производительность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Загрузка до первых результатов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=&lt;</a:t>
                      </a:r>
                      <a:r>
                        <a:rPr lang="en-US" sz="1500" baseline="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30 </a:t>
                      </a:r>
                      <a:r>
                        <a:rPr lang="ru-RU" sz="1500" baseline="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сек</a:t>
                      </a:r>
                      <a:endParaRPr lang="ru-RU" sz="1500" dirty="0" smtClean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6946194"/>
                  </a:ext>
                </a:extLst>
              </a:tr>
              <a:tr h="387439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Документы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NER-</a:t>
                      </a:r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обезличивание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787532"/>
                  </a:ext>
                </a:extLst>
              </a:tr>
              <a:tr h="553542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Шифрование трафика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976019"/>
                  </a:ext>
                </a:extLst>
              </a:tr>
              <a:tr h="553542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Хранение сессий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HttpOnly</a:t>
                      </a: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</a:t>
                      </a:r>
                      <a:r>
                        <a:rPr kumimoji="0" lang="en-US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cookie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542418"/>
                  </a:ext>
                </a:extLst>
              </a:tr>
              <a:tr h="553542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Безопасность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Защита от </a:t>
                      </a:r>
                      <a:r>
                        <a:rPr lang="en-US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XSS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Экранирование вывода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329063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Надежность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Доступность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99.5%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507179"/>
                  </a:ext>
                </a:extLst>
              </a:tr>
              <a:tr h="338630"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Совместимость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dirty="0" smtClean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Ширина экрана</a:t>
                      </a:r>
                      <a:endParaRPr lang="ru-RU" sz="15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46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320-2560 </a:t>
                      </a:r>
                      <a:r>
                        <a:rPr kumimoji="0" lang="ru-RU" sz="1500" b="0" i="0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пикс</a:t>
                      </a:r>
                      <a:r>
                        <a:rPr kumimoji="0" lang="ru-RU" sz="15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kumimoji="0" lang="ru-RU" sz="15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7835" marR="87835" marT="43918" marB="43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965778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6248581" y="1277841"/>
            <a:ext cx="33185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Нефункциональные требования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430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m="http://schemas.openxmlformats.org/officeDocument/2006/math" xmlns:w="http://schemas.openxmlformats.org/wordprocessingml/2006/main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Пирамида тестирования и план</a:t>
            </a:r>
          </a:p>
        </p:txBody>
      </p:sp>
      <p:pic>
        <p:nvPicPr>
          <p:cNvPr id="3" name="Picture 2" descr="pres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840000" cy="39927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00000" y="1188000"/>
            <a:ext cx="4752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Times New Roman"/>
              </a:rPr>
              <a:t>План тестирования: 5 этапов с критериями входа и выхода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00000" y="1548000"/>
            <a:ext cx="4752000" cy="55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1. Подготовка среды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Docker-compose, CI, тестовые данные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0" y="2178000"/>
            <a:ext cx="4752000" cy="55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2. Разработка тестов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Приоритет «Высокий» покрыт 100%, бэкенд ≥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0" y="2808000"/>
            <a:ext cx="4752000" cy="55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3. Выполнение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Авто-прогон в CI + ручной юзабилити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0" y="3438000"/>
            <a:ext cx="4752000" cy="55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4. Анализ результатов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Баг-репорты, приоритизация, исправления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4068000"/>
            <a:ext cx="4752000" cy="55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1400" b="1">
                <a:solidFill>
                  <a:srgbClr val="000000"/>
                </a:solidFill>
                <a:latin typeface="Times New Roman"/>
              </a:rPr>
              <a:t>5. Отчётность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Метрики, покрытие, архивация артефактов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6336000"/>
            <a:ext cx="1152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Times New Roman"/>
              </a:rPr>
              <a:t>~350 модульных + ~80 интеграционных + ~25 E2E = суммарное время в CI ≤ 10 минут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Выбор инструментов автоматизации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52000"/>
            <a:ext cx="11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>
                <a:solidFill>
                  <a:srgbClr val="707070"/>
                </a:solidFill>
                <a:latin typeface="Times New Roman"/>
              </a:rPr>
              <a:t>Сравнили по 4–6 критериев для каждого уровня — победители внизу таблицы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1584000"/>
          <a:ext cx="11664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000"/>
                <a:gridCol w="2916000"/>
                <a:gridCol w="2916000"/>
                <a:gridCol w="2916000"/>
              </a:tblGrid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Уровень</a:t>
                      </a:r>
                    </a:p>
                  </a:txBody>
                  <a:tcPr anchor="ctr" marL="54000" marR="540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Кандидаты</a:t>
                      </a:r>
                    </a:p>
                  </a:txBody>
                  <a:tcPr anchor="ctr" marL="54000" marR="540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Выбор</a:t>
                      </a:r>
                    </a:p>
                  </a:txBody>
                  <a:tcPr anchor="ctr" marL="54000" marR="54000" marT="18000" marB="18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Ключевой аргумент</a:t>
                      </a:r>
                    </a:p>
                  </a:txBody>
                  <a:tcPr anchor="ctr" marL="54000" marR="54000" marT="18000" marB="18000">
                    <a:solidFill>
                      <a:srgbClr val="1F3A5F"/>
                    </a:solidFill>
                  </a:tcPr>
                </a:tc>
              </a:tr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Модульный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(фронтенд)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Jest / Vitest / Mocha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Vitest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Общий автор с Vite, холодный старт 1.8 с (вдвое быстрее Jest)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</a:tr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Модульный,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интеграц. (Go)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testing / testify / gomega / gocheck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testing + testify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Читаемые assert-ы, моки «из коробки», флаг -race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</a:tr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API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Postman / Insomnia / curl / Hoppscotch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Postman + Newman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Коллекции в Git, pre-request скрипт на JWT, CI через Newman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</a:tr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E2E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Playwright / Cypress / Selenium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Playwright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Автоожидание, Chromium+Firefox+WebKit, шардирование на 3 воркера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</a:tr>
              <a:tr h="694285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CI/CD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GitHub Actions / GitLab CI / Jenkins / CircleCI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GitHub Actions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Репозитории уже на GitHub, 2000 мин/мес бесплатно, service containers</a:t>
                      </a:r>
                    </a:p>
                  </a:txBody>
                  <a:tcPr anchor="ctr" marL="54000" marR="54000" marT="18000" marB="18000">
                    <a:solidFill>
                      <a:srgbClr val="FFFFFF"/>
                    </a:solidFill>
                  </a:tcPr>
                </a:tc>
              </a:tr>
              <a:tr h="69429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Нагрузочный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k6 / Apache JMeter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k6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</a:rPr>
                        <a:t>JS-сценарии, легковесный; запуск вручную перед релизом</a:t>
                      </a:r>
                    </a:p>
                  </a:txBody>
                  <a:tcPr anchor="ctr" marL="54000" marR="54000" marT="18000" marB="18000">
                    <a:solidFill>
                      <a:srgbClr val="FAE9A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Реализация: среда и модульные тесты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1188000"/>
            <a:ext cx="5688000" cy="1872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700" b="1">
                <a:solidFill>
                  <a:srgbClr val="000000"/>
                </a:solidFill>
                <a:latin typeface="Times New Roman"/>
              </a:rPr>
              <a:t>Тестовая среда — docker-compose.test.yml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bekkend-тест (Go + Gin)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frontend-тест (Vue 3)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PostgreSQL :5433 (изолированная)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S3-совместимое хранилище (MinIO)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Миграции через golang-migrate</a:t>
            </a:r>
          </a:p>
          <a:p>
            <a:pPr algn="l"/>
            <a:r>
              <a:rPr sz="1500" b="0">
                <a:solidFill>
                  <a:srgbClr val="000000"/>
                </a:solidFill>
                <a:latin typeface="Times New Roman"/>
              </a:rPr>
              <a:t>• .env.test + godotenv для TestMain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2000" y="1188000"/>
            <a:ext cx="5760000" cy="1872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700" b="1">
                <a:solidFill>
                  <a:srgbClr val="000000"/>
                </a:solidFill>
                <a:latin typeface="Times New Roman"/>
              </a:rPr>
              <a:t>Объекты тестирования и найденные баги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Фронтенд (47 тестов):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DocumentUpload — формат, размер 15 МБ, блокировка кнопки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RiskHighlighter — подсветка, перекрытие диапазонов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useDocumentStore — Pinia-стор, fetch через vi.fn()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Бэкенд (38 тестов):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Handler.Upload через httptest + multipart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NER: [PHONE] для «8(999)...» и «+7-999-...»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  • JWT middleware — валидный, истёкший, отсутствие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3168000"/>
            <a:ext cx="576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Times New Roman"/>
              </a:rPr>
              <a:t>Пример 1 — Vitest (DocumentUpload.vue)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" y="3491999"/>
            <a:ext cx="5760000" cy="2808000"/>
          </a:xfrm>
          <a:prstGeom prst="rect">
            <a:avLst/>
          </a:prstGeom>
          <a:solidFill>
            <a:srgbClr val="F6F6F0"/>
          </a:solidFill>
          <a:ln w="9525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54000" bIns="54000"/>
          <a:lstStyle/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it('отклоняет PNG и блокирует кнопку', async () =&gt; {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const wrapper = mount(DocumentUpload)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const file = new File(['x'], 'img.png',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  { type: 'image/png' })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await input.trigger('change')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expect(wrapper.text())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.toContain('Формат не поддерживается')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expect(analyzeBtn.attributes('disabled'))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.toBeDefined()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2000" y="3168000"/>
            <a:ext cx="5760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Times New Roman"/>
              </a:rPr>
              <a:t>Пример 2 — Go testify (handler.Upload)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000" y="3491999"/>
            <a:ext cx="5760000" cy="2808000"/>
          </a:xfrm>
          <a:prstGeom prst="rect">
            <a:avLst/>
          </a:prstGeom>
          <a:solidFill>
            <a:srgbClr val="F6F6F0"/>
          </a:solidFill>
          <a:ln w="9525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54000" bIns="54000"/>
          <a:lstStyle/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func TestUploadDocument_Success(t *testing.T) {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mockSvc := new(mocks.DocumentService)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mockSvc.On("Upload", ...).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  Return("doc-uuid-1234", nil)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req := httptest.NewRequest(POST, "/upload",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  body)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router.ServeHTTP(w, req)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assert.Equal(t, http.StatusCreated, w.Code)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mockSvc.AssertExpectations(t)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Интеграционные, API и сквозные тесты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1188000"/>
            <a:ext cx="3888000" cy="2232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700" b="1">
                <a:solidFill>
                  <a:srgbClr val="000000"/>
                </a:solidFill>
                <a:latin typeface="Times New Roman"/>
              </a:rPr>
              <a:t>API (Postman / Newman)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34 сценария в 5 папках: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авторизация (6) • документы (9) •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анализ (7) • отчёты (5) • негативные (7)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Цепочка: регистрация → JWT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сохраняется в окружение → используется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в защищённых запросах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Запуск через Newman в 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76000" y="1188000"/>
            <a:ext cx="3888000" cy="2232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700" b="1">
                <a:solidFill>
                  <a:srgbClr val="000000"/>
                </a:solidFill>
                <a:latin typeface="Times New Roman"/>
              </a:rPr>
              <a:t>Интеграционные (Go)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Реальная PostgreSQL в docker-compose: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один тест = 3,4 с (против 12 мс модульного)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Ловит невидимое на моках: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ошибки миграций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нарушения FK-ограничений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кривые SQL-запросы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Go testing + testcontainers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72000" y="1188000"/>
            <a:ext cx="3888000" cy="2232000"/>
          </a:xfrm>
          <a:prstGeom prst="roundRect">
            <a:avLst/>
          </a:prstGeom>
          <a:solidFill>
            <a:srgbClr val="D4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700" b="1">
                <a:solidFill>
                  <a:srgbClr val="000000"/>
                </a:solidFill>
                <a:latin typeface="Times New Roman"/>
              </a:rPr>
              <a:t>E2E (Playwright)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Playwright, 4 ключевых сценария: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регистрация и вход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загрузка + AI-анализ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чат с AI-ассистентом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формирование PDF-отчёта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Параллелизм 2 воркера,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таймаут 30 с, Chromium + Firefox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3636000"/>
            <a:ext cx="6120000" cy="1692000"/>
          </a:xfrm>
          <a:prstGeom prst="roundRect">
            <a:avLst/>
          </a:prstGeom>
          <a:solidFill>
            <a:srgbClr val="FFECE8"/>
          </a:solidFill>
          <a:ln w="1524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500" b="1">
                <a:solidFill>
                  <a:srgbClr val="000000"/>
                </a:solidFill>
                <a:latin typeface="Times New Roman"/>
              </a:rPr>
              <a:t>Критический дефект #1: 404 вместо 403 для чужого документа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Postman-тест из негативного набора запросил чужой документ.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Сервер вернул 404 вместо 403: злоумышленник мог бы перебором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идентификаторов определить существующие документы в системе.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Дефект классифицирован как критический, исправлен за 2 часа.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8000" y="3636000"/>
            <a:ext cx="568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Times New Roman"/>
              </a:rPr>
              <a:t>Playwright: ключевой шаг E2E-сценария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000" y="3924000"/>
            <a:ext cx="5688000" cy="2448000"/>
          </a:xfrm>
          <a:prstGeom prst="rect">
            <a:avLst/>
          </a:prstGeom>
          <a:solidFill>
            <a:srgbClr val="F6F6F0"/>
          </a:solidFill>
          <a:ln w="9525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54000" tIns="54000" bIns="54000"/>
          <a:lstStyle/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await page.getByRole('button',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{ name: 'Анализировать' }).click()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// AI-анализ до 15 с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await expect(page.getByTestId('risk-panel'))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.toBeVisible({ timeout: 20000 })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const count = await page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    .getByTestId('risk-item').count()</a:t>
            </a:r>
          </a:p>
          <a:p>
            <a:pPr algn="l"/>
            <a:r>
              <a:rPr sz="1200">
                <a:solidFill>
                  <a:srgbClr val="000000"/>
                </a:solidFill>
                <a:latin typeface="Consolas"/>
              </a:rPr>
              <a:t>expect(count).toBeGreaterThan(0)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Безопасность и юзабилити-тестирование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1188000"/>
            <a:ext cx="576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Times New Roman"/>
              </a:rPr>
              <a:t>Безопасность — проверено по 5 направлениям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00" y="1548000"/>
            <a:ext cx="5760000" cy="5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300" b="1">
                <a:solidFill>
                  <a:srgbClr val="000000"/>
                </a:solidFill>
                <a:latin typeface="Times New Roman"/>
              </a:rPr>
              <a:t>JWT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Атака: подмена payload, истёкший токен → 401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Результат: исправлен 500→401 за 40 мин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2160000"/>
            <a:ext cx="5760000" cy="5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300" b="1">
                <a:solidFill>
                  <a:srgbClr val="000000"/>
                </a:solidFill>
                <a:latin typeface="Times New Roman"/>
              </a:rPr>
              <a:t>XSS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Атака: &lt;script&gt; в заметках и ответах AI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Результат: v-html → ChatMessage (marked + sanitize)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2772000"/>
            <a:ext cx="5760000" cy="5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300" b="1">
                <a:solidFill>
                  <a:srgbClr val="000000"/>
                </a:solidFill>
                <a:latin typeface="Times New Roman"/>
              </a:rPr>
              <a:t>SQL-инъекции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Атака: '; DROP TABLE documents; --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Результат: 12 точек ввода чистые (sqlx)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3384000"/>
            <a:ext cx="5760000" cy="5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300" b="1">
                <a:solidFill>
                  <a:srgbClr val="000000"/>
                </a:solidFill>
                <a:latin typeface="Times New Roman"/>
              </a:rPr>
              <a:t>Изоляция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Атака: запрос чужого документа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Результат: 403 на 4 эндпоинтах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" y="3996000"/>
            <a:ext cx="5760000" cy="540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300" b="1">
                <a:solidFill>
                  <a:srgbClr val="000000"/>
                </a:solidFill>
                <a:latin typeface="Times New Roman"/>
              </a:rPr>
              <a:t>OWASP ZAP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Атака: 1 847 запросов за 6 мин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Times New Roman"/>
              </a:rPr>
              <a:t>Результат: критических 0, 2 low: HSTS, X-Content-Type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1188000"/>
            <a:ext cx="576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Times New Roman"/>
              </a:rPr>
              <a:t>Юзабилити — 5 респондентов, основной сценарий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1548000"/>
            <a:ext cx="2808000" cy="1260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4200" b="1">
                <a:solidFill>
                  <a:srgbClr val="000000"/>
                </a:solidFill>
                <a:latin typeface="Times New Roman"/>
              </a:rPr>
              <a:t>2:14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2000" y="2700000"/>
            <a:ext cx="280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  <a:latin typeface="Times New Roman"/>
              </a:rPr>
              <a:t>среднее время прохождения (требование 3:00)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548000"/>
            <a:ext cx="2808000" cy="1260000"/>
          </a:xfrm>
          <a:prstGeom prst="roundRect">
            <a:avLst/>
          </a:prstGeom>
          <a:solidFill>
            <a:srgbClr val="D4B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ctr"/>
            <a:r>
              <a:rPr sz="4200" b="1">
                <a:solidFill>
                  <a:srgbClr val="000000"/>
                </a:solidFill>
                <a:latin typeface="Times New Roman"/>
              </a:rPr>
              <a:t>2:51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700000"/>
            <a:ext cx="2808000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1F3A5F"/>
                </a:solidFill>
                <a:latin typeface="Times New Roman"/>
              </a:rPr>
              <a:t>самый медленный участник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3311999"/>
            <a:ext cx="5760000" cy="2808000"/>
          </a:xfrm>
          <a:prstGeom prst="roundRect">
            <a:avLst/>
          </a:prstGeom>
          <a:solidFill>
            <a:srgbClr val="FAE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Внесённые улучшения интерфейса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Прогресс-бар увеличен на 40%, добавлена текстовая подпись «Загрузка...»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Tabindex=0 у панели рисков — теперь доступна через клавиатуру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Tooltip не уходит за правый край экрана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Панель рисков: width: min(280px, 90vw) — не перекрывает кнопку на 320 px</a:t>
            </a:r>
          </a:p>
          <a:p>
            <a:pPr algn="l"/>
            <a:r>
              <a:rPr sz="1300" b="0">
                <a:solidFill>
                  <a:srgbClr val="000000"/>
                </a:solidFill>
                <a:latin typeface="Times New Roman"/>
              </a:rPr>
              <a:t>• Текст документа max-width: 900 px — читаемо на QHD-мониторах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CI/CD-пайплайн на GitHub Actions</a:t>
            </a:r>
          </a:p>
        </p:txBody>
      </p:sp>
      <p:pic>
        <p:nvPicPr>
          <p:cNvPr id="3" name="Picture 2" descr="pres_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24000"/>
            <a:ext cx="11880000" cy="59024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324000"/>
            <a:ext cx="11520000" cy="709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Times New Roman"/>
              </a:rPr>
              <a:t>Результаты тестирования</a:t>
            </a:r>
          </a:p>
        </p:txBody>
      </p:sp>
      <p:pic>
        <p:nvPicPr>
          <p:cNvPr id="3" name="Picture 2" descr="pre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188000"/>
            <a:ext cx="7920000" cy="4247015"/>
          </a:xfrm>
          <a:prstGeom prst="rect">
            <a:avLst/>
          </a:prstGeom>
        </p:spPr>
      </p:pic>
      <p:pic>
        <p:nvPicPr>
          <p:cNvPr id="4" name="Picture 3" descr="pres_def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0" y="1188000"/>
            <a:ext cx="3960000" cy="183067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0000" y="5400000"/>
            <a:ext cx="11880000" cy="1188000"/>
          </a:xfrm>
          <a:prstGeom prst="roundRect">
            <a:avLst/>
          </a:prstGeom>
          <a:solidFill>
            <a:srgbClr val="F1D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72000" bIns="72000"/>
          <a:lstStyle/>
          <a:p>
            <a:pPr algn="l"/>
            <a:r>
              <a:rPr sz="1800" b="1">
                <a:solidFill>
                  <a:srgbClr val="000000"/>
                </a:solidFill>
                <a:latin typeface="Times New Roman"/>
              </a:rPr>
              <a:t>Итог: система готова к релизу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• 246 тестов, покрытие ~73% — выше планового порога 70%/60%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• Все 3 критических дефекта устранены до выпуска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• Все эндпоинты (кроме AI-чата) укладываются в p95 ≤ 200 мс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Times New Roman"/>
              </a:rPr>
              <a:t>• Стабильность пайплайна 96,5% за 143 прогона — тестам можно доверять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2000" y="6552000"/>
            <a:ext cx="432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707070"/>
                </a:solidFill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40000" y="2700000"/>
            <a:ext cx="7560000" cy="1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3A5F"/>
                </a:solidFill>
                <a:latin typeface="Times New Roman"/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4031999"/>
            <a:ext cx="93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Кафанова А. С., группа ЭФБО-02-22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Научный руководитель: к.пед.н., доцент Громов Е. В.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Кафедра индустриального программирования ИПТИП МИРЭА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DIN Pro Medium"/>
        <a:ea typeface="Arial"/>
        <a:cs typeface="Arial"/>
      </a:majorFont>
      <a:minorFont>
        <a:latin typeface="DIN Pro Regular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  <a:headEnd/>
          <a:tailEnd/>
        </a:ln>
      </a:spPr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</TotalTime>
  <Words>675</Words>
  <Application>Microsoft Office PowerPoint</Application>
  <DocSecurity>0</DocSecurity>
  <PresentationFormat>Широкоэкранный</PresentationFormat>
  <Paragraphs>177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Times New Roman</vt:lpstr>
      <vt:lpstr>DIN Pro Medium</vt:lpstr>
      <vt:lpstr>Arial</vt:lpstr>
      <vt:lpstr>Calibri</vt:lpstr>
      <vt:lpstr>Wingdings</vt:lpstr>
      <vt:lpstr>Verdana</vt:lpstr>
      <vt:lpstr>DIN Pro Regular</vt:lpstr>
      <vt:lpstr>1_Theme1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HP</dc:creator>
  <cp:keywords/>
  <dc:description/>
  <cp:lastModifiedBy>RePack by Diakov</cp:lastModifiedBy>
  <cp:revision>964</cp:revision>
  <dcterms:created xsi:type="dcterms:W3CDTF">2021-05-24T15:42:45Z</dcterms:created>
  <dcterms:modified xsi:type="dcterms:W3CDTF">2026-04-16T13:00:24Z</dcterms:modified>
  <cp:category/>
  <dc:identifier/>
  <cp:contentStatus/>
  <dc:language/>
  <cp:version/>
</cp:coreProperties>
</file>