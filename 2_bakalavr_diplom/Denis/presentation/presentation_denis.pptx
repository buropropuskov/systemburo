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8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540000"/>
            <a:ext cx="1152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1F3A5F"/>
                </a:solidFill>
                <a:latin typeface="Times New Roman"/>
              </a:rPr>
              <a:t>МИНОБРНАУКИ РОССИИ</a:t>
            </a:r>
          </a:p>
          <a:p>
            <a:pPr algn="ctr"/>
            <a:r>
              <a:rPr sz="1600" b="1" i="0">
                <a:solidFill>
                  <a:srgbClr val="1F3A5F"/>
                </a:solidFill>
                <a:latin typeface="Times New Roman"/>
              </a:rPr>
              <a:t>Федеральное государственное бюджетное образовательное учреждение</a:t>
            </a:r>
          </a:p>
          <a:p>
            <a:pPr algn="ctr"/>
            <a:r>
              <a:rPr sz="1600" b="1" i="0">
                <a:solidFill>
                  <a:srgbClr val="1F3A5F"/>
                </a:solidFill>
                <a:latin typeface="Times New Roman"/>
              </a:rPr>
              <a:t>высшего образования «МИРЭА — Российский технологический университет»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620000"/>
            <a:ext cx="11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</a:rPr>
              <a:t>Институт перспективных технологий и индустриального программирования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1908000"/>
            <a:ext cx="11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</a:rPr>
              <a:t>Кафедра индустриального программирования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700000"/>
            <a:ext cx="10800000" cy="1512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2800" b="1">
                <a:solidFill>
                  <a:srgbClr val="1F3A5F"/>
                </a:solidFill>
                <a:latin typeface="Times New Roman"/>
              </a:rPr>
              <a:t>Разработка системы оценивания степени самостоятельности решения задач</a:t>
            </a:r>
          </a:p>
          <a:p>
            <a:pPr algn="ctr"/>
            <a:r>
              <a:rPr sz="1600" b="0">
                <a:solidFill>
                  <a:srgbClr val="1F3A5F"/>
                </a:solidFill>
                <a:latin typeface="Times New Roman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248000"/>
            <a:ext cx="10800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600" b="0" i="1">
                <a:solidFill>
                  <a:srgbClr val="707070"/>
                </a:solidFill>
                <a:latin typeface="Times New Roman"/>
              </a:rPr>
              <a:t>Выпускная квалификационная работа бакалавра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5112000"/>
            <a:ext cx="5040000" cy="14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Выполнил:</a:t>
            </a:r>
          </a:p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студент группы ЭФБО-06-22</a:t>
            </a:r>
          </a:p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Михайлов Денис Артемович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5112000"/>
            <a:ext cx="5040000" cy="14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Научный руководитель:</a:t>
            </a:r>
          </a:p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к.т.н., доцент кафедры ИП</a:t>
            </a:r>
          </a:p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Лукьянов П. 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6588000"/>
            <a:ext cx="11520000" cy="1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 i="1">
                <a:solidFill>
                  <a:srgbClr val="707070"/>
                </a:solidFill>
                <a:latin typeface="Times New Roman"/>
              </a:rPr>
              <a:t>Москва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Times New Roman"/>
              </a:rPr>
              <a:t>Актуальность исследования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00" y="1188000"/>
            <a:ext cx="11520000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Times New Roman"/>
              </a:rPr>
              <a:t>Moodle — фактический стандарт дистанционного обучения: 200 000+ площадок в 240 странах. В единичной группе 25–30 студентов ручная попарная проверка самостоятельности обходится преподавателю в 7,5 часов на одно задание.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00" y="2160000"/>
            <a:ext cx="3708000" cy="1620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2000" b="1">
                <a:solidFill>
                  <a:srgbClr val="000000"/>
                </a:solidFill>
                <a:latin typeface="Times New Roman"/>
              </a:rPr>
              <a:t>7,5 часов ручной проверки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C(25,2) = 300 пар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при группе 25 студентов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и 1,5 мин на каждую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12000" y="2160000"/>
            <a:ext cx="3708000" cy="1620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2000" b="1">
                <a:solidFill>
                  <a:srgbClr val="000000"/>
                </a:solidFill>
                <a:latin typeface="Times New Roman"/>
              </a:rPr>
              <a:t>Субъективность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Преподаватель сравнивает выборочно,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решение не документируется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и не воспроизводится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6000" y="2160000"/>
            <a:ext cx="3708000" cy="1620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2000" b="1">
                <a:solidFill>
                  <a:srgbClr val="000000"/>
                </a:solidFill>
                <a:latin typeface="Times New Roman"/>
              </a:rPr>
              <a:t>Пробел на рынке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На рынке нет универсального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плагина Moodle, работающего</a:t>
            </a:r>
          </a:p>
          <a:p>
            <a:pPr algn="ctr"/>
            <a:r>
              <a:rPr sz="1500" b="0">
                <a:solidFill>
                  <a:srgbClr val="000000"/>
                </a:solidFill>
                <a:latin typeface="Times New Roman"/>
              </a:rPr>
              <a:t>с текстом + кодом + таблицами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" y="4140000"/>
            <a:ext cx="11592000" cy="1980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</a:rPr>
              <a:t>Что это означает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Times New Roman"/>
              </a:rPr>
              <a:t>Актуальность темы обусловлена двумя факторами. Первый — реальный дефицит времени преподавателя в дистанционном обучении. Второй — отсутствие отечественного инструмента, интегрированного в Moodle, способного одновременно обрабатывать тексты (DOCX, PDF), электронные таблицы (XLSX) и исходный код (Python, Java, C++, PHP).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Times New Roman"/>
              </a:rPr>
              <a:t>Объект, предмет, цель и задачи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8000" y="1188000"/>
            <a:ext cx="5688000" cy="1224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800" b="1">
                <a:solidFill>
                  <a:srgbClr val="000000"/>
                </a:solidFill>
                <a:latin typeface="Times New Roman"/>
              </a:rPr>
              <a:t>Объект исследования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Times New Roman"/>
              </a:rPr>
              <a:t>Процесс оценивания степени самостоятельности решения задач студентами в системе дистанционного обучения Moodle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0000" y="1188000"/>
            <a:ext cx="5688000" cy="1224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800" b="1">
                <a:solidFill>
                  <a:srgbClr val="000000"/>
                </a:solidFill>
                <a:latin typeface="Times New Roman"/>
              </a:rPr>
              <a:t>Предмет исследования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Times New Roman"/>
              </a:rPr>
              <a:t>Плагин попарного сравнения студенческих работ в рамках одного задания Moodle, реализующий автоматический анализ заимствований для текстовых документов и кода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00" y="2520000"/>
            <a:ext cx="11520000" cy="936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2000" b="1">
                <a:solidFill>
                  <a:srgbClr val="1F3A5F"/>
                </a:solidFill>
                <a:latin typeface="Times New Roman"/>
              </a:rPr>
              <a:t>Цель работы</a:t>
            </a:r>
          </a:p>
          <a:p>
            <a:pPr algn="l"/>
            <a:r>
              <a:rPr sz="1600" b="0">
                <a:solidFill>
                  <a:srgbClr val="1F3A5F"/>
                </a:solidFill>
                <a:latin typeface="Times New Roman"/>
              </a:rPr>
              <a:t>Повышение эффективности процесса оценивания степени самостоятельности решения задач студентами за счёт снижения трудозатрат преподавателя на проверку заданий текущего контроля.</a:t>
            </a:r>
          </a:p>
        </p:txBody>
      </p:sp>
      <p:sp>
        <p:nvSpPr>
          <p:cNvPr id="6" name="Oval 5"/>
          <p:cNvSpPr/>
          <p:nvPr/>
        </p:nvSpPr>
        <p:spPr>
          <a:xfrm>
            <a:off x="288000" y="3636000"/>
            <a:ext cx="576000" cy="576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" y="4320000"/>
            <a:ext cx="2772000" cy="2088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Анализ инструментов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Анализ существующих инструментов проверки уникальности, выявление их недостатков при применении в LMS, формулировка требований</a:t>
            </a:r>
          </a:p>
        </p:txBody>
      </p:sp>
      <p:sp>
        <p:nvSpPr>
          <p:cNvPr id="8" name="Oval 7"/>
          <p:cNvSpPr/>
          <p:nvPr/>
        </p:nvSpPr>
        <p:spPr>
          <a:xfrm>
            <a:off x="3186000" y="3636000"/>
            <a:ext cx="576000" cy="576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86000" y="4320000"/>
            <a:ext cx="2772000" cy="2088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Моделирование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Моделирование предметной области системы оценивания студентов</a:t>
            </a:r>
          </a:p>
        </p:txBody>
      </p:sp>
      <p:sp>
        <p:nvSpPr>
          <p:cNvPr id="10" name="Oval 9"/>
          <p:cNvSpPr/>
          <p:nvPr/>
        </p:nvSpPr>
        <p:spPr>
          <a:xfrm>
            <a:off x="6084000" y="3636000"/>
            <a:ext cx="576000" cy="576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4000" y="4320000"/>
            <a:ext cx="2772000" cy="2088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Проектирование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Проектирование модуля проверки работ на заимствования и его интеграция в систему Moodle</a:t>
            </a:r>
          </a:p>
        </p:txBody>
      </p:sp>
      <p:sp>
        <p:nvSpPr>
          <p:cNvPr id="12" name="Oval 11"/>
          <p:cNvSpPr/>
          <p:nvPr/>
        </p:nvSpPr>
        <p:spPr>
          <a:xfrm>
            <a:off x="8982000" y="3636000"/>
            <a:ext cx="576000" cy="576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2000" y="4320000"/>
            <a:ext cx="2772000" cy="2088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Реализация и оценка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Реализация, тестирование разработанного плагина и оценка эффективности снижения трудозатрат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Times New Roman"/>
              </a:rPr>
              <a:t>Анализ рынка инструментов проверки уникальности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00" y="1152000"/>
            <a:ext cx="11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Times New Roman"/>
              </a:rPr>
              <a:t>Сравнительный анализ четырёх ключевых инструментов по 6 критериям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8000" y="1548000"/>
          <a:ext cx="86400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000"/>
                <a:gridCol w="1728000"/>
                <a:gridCol w="1728000"/>
                <a:gridCol w="1728000"/>
                <a:gridCol w="1728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Критерий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Turnitin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Антиплагиат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MOSS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JPlag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Тип проверки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С интернет-базой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С базой источников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Попарное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Попарное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Поддержка текста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DOCX/PDF/TXT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DOCX/PDF/TXT/ODT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нет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нет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Поддержка кода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ограниченная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ограниченная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C, Java, Python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Java, C++, Python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Интеграция Moodle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Платный плагин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Платный плагин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нет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нет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Попарное сравнение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ограниченно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ограниченно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основная функция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основная функция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Стоимость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от $3/студент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платная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бесплатно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open-source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072000" y="1548000"/>
            <a:ext cx="2880000" cy="3780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Ключевой вывод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Универсального плагина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Moodle, который работает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одновременно с: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текстом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кодом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таблицами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и делает это внутри LMS,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на рынке нет.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Именно эту нишу закрывает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разрабатываемая система.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Times New Roman"/>
              </a:rPr>
              <a:t>Требования к разрабатываемой системе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00" y="1152000"/>
            <a:ext cx="11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Times New Roman"/>
              </a:rPr>
              <a:t>10 функциональных и 8 нефункциональных требований выведены из анализа аналогов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475999"/>
            <a:ext cx="5688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Times New Roman"/>
              </a:rPr>
              <a:t>Функциональные требования (10)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8000" y="1764000"/>
          <a:ext cx="5688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000"/>
                <a:gridCol w="2844000"/>
              </a:tblGrid>
              <a:tr h="39272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Требование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FR-01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Установка как plagiarism-плагин Moodle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FR-02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Автозапуск после срока сдачи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FR-03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Поддержка DOCX, PDF, TXT, ODT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FR-04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Поддержка Python, Java, C++, PHP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FR-05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Поддержка XLSX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FR-06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Попарное сравнение всех работ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FR-07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Отчёт с процентом по каждой паре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FR-08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Подсветка совпадающих фрагментов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  <a:tr h="39272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FR-09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Фоновая очередь задач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39273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FR-10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Настройки порогов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0000" y="1475999"/>
            <a:ext cx="5688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Times New Roman"/>
              </a:rPr>
              <a:t>Нефункциональные требования (8)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0000" y="1764000"/>
          <a:ext cx="5688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000"/>
                <a:gridCol w="1896000"/>
                <a:gridCol w="1896000"/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Требование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Метрика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NFR-01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Время проверки пары DOCX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≤ 3 с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NFR-02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Обработка группы 30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≤ 10 мин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NFR-03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Отказоустойчивость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fail-safe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NFR-04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Совместимость Moodle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4.0 LTS+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NFR-05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Стек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PHP 8.1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NFR-06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Coding Style Moodle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полное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NFR-07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Локализация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ru / en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NFR-08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Покрытие тестами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≥ 50 %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Times New Roman"/>
              </a:rPr>
              <a:t>Акторы и бизнес-процесс «как есть»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00" y="1188000"/>
            <a:ext cx="5688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Times New Roman"/>
              </a:rPr>
              <a:t>Три роли в процессе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00" y="1548000"/>
            <a:ext cx="5688000" cy="1404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800" b="1">
                <a:solidFill>
                  <a:srgbClr val="000000"/>
                </a:solidFill>
                <a:latin typeface="Times New Roman"/>
              </a:rPr>
              <a:t>Преподаватель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Times New Roman"/>
              </a:rPr>
              <a:t>Настраивает задание, получает отчёт,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Times New Roman"/>
              </a:rPr>
              <a:t>раскрывает подозрительные пары,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Times New Roman"/>
              </a:rPr>
              <a:t>принимает решение об оценке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00" y="3060000"/>
            <a:ext cx="5688000" cy="1404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800" b="1">
                <a:solidFill>
                  <a:srgbClr val="000000"/>
                </a:solidFill>
                <a:latin typeface="Times New Roman"/>
              </a:rPr>
              <a:t>Студент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Times New Roman"/>
              </a:rPr>
              <a:t>Загружает файл через стандартный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Times New Roman"/>
              </a:rPr>
              <a:t>элемент «Задание» Moodle — никаких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Times New Roman"/>
              </a:rPr>
              <a:t>дополнительных действий не требуется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00" y="4572000"/>
            <a:ext cx="5688000" cy="1404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800" b="1">
                <a:solidFill>
                  <a:srgbClr val="000000"/>
                </a:solidFill>
                <a:latin typeface="Times New Roman"/>
              </a:rPr>
              <a:t>Администратор Moodle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Times New Roman"/>
              </a:rPr>
              <a:t>Устанавливает плагин, настраивает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Times New Roman"/>
              </a:rPr>
              <a:t>пороги, просматривает агрегированную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Times New Roman"/>
              </a:rPr>
              <a:t>статистику по кафедре или факультету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0" y="1188000"/>
            <a:ext cx="5688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Times New Roman"/>
              </a:rPr>
              <a:t>Процесс «как есть» — ручная проверка</a:t>
            </a:r>
          </a:p>
        </p:txBody>
      </p:sp>
      <p:pic>
        <p:nvPicPr>
          <p:cNvPr id="8" name="Picture 7" descr="pic_2_1_bpmn_as_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0" y="1548000"/>
            <a:ext cx="5688000" cy="24259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Times New Roman"/>
              </a:rPr>
              <a:t>Предлагаемый процесс «как будет»</a:t>
            </a:r>
          </a:p>
        </p:txBody>
      </p:sp>
      <p:pic>
        <p:nvPicPr>
          <p:cNvPr id="3" name="Picture 2" descr="pic_2_2_bpmn_to_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1188000"/>
            <a:ext cx="11592000" cy="587992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88000" y="5580000"/>
            <a:ext cx="11592000" cy="1007999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800" b="1">
                <a:solidFill>
                  <a:srgbClr val="000000"/>
                </a:solidFill>
                <a:latin typeface="Times New Roman"/>
              </a:rPr>
              <a:t>Вместо 7,5 часов ручной работы — 15 минут фонового времени сервера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Times New Roman"/>
              </a:rPr>
              <a:t>После срока Moodle Cron триггерит плагин. Плагин создаёт задачи в очереди, извлекает текст, считает шинглы и Winnowing, сохраняет результат. Преподаватель получает уведомление и сразу видит цветовую матрицу пар.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Times New Roman"/>
              </a:rPr>
              <a:t>Диаграмма вариантов использования</a:t>
            </a:r>
          </a:p>
        </p:txBody>
      </p:sp>
      <p:pic>
        <p:nvPicPr>
          <p:cNvPr id="3" name="Picture 2" descr="pic_2_4_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1188000"/>
            <a:ext cx="7920000" cy="573061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24000" y="1188000"/>
            <a:ext cx="3528000" cy="5040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Что на диаграмме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4 актора: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Преподаватель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Студент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Администратор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Moodle Cron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12 вариантов использования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организованы в три колонки: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пользовательские сценарии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расширения и включения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фоновая обработка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&lt;&lt;include&gt;&gt; — обязательные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этапы обработки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&lt;&lt;extend&gt;&gt; — опциональное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поведение (например,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экспорт в CSV)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Times New Roman"/>
              </a:rPr>
              <a:t>Архитектура плагина</a:t>
            </a:r>
          </a:p>
        </p:txBody>
      </p:sp>
      <p:pic>
        <p:nvPicPr>
          <p:cNvPr id="3" name="Picture 2" descr="pic_3_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1188000"/>
            <a:ext cx="7920000" cy="599066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24000" y="1188000"/>
            <a:ext cx="3528000" cy="5040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Почему так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Слоистая модель по Мартину: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UI → обработка → анализ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→ хранилище.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Тип расширения — нативный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plagiarism-плагин Moodle.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Данные не покидают контур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LMS — соответствие ФЗ-152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и импортозамещение.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Паттерны: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Strategy — выбор алгоритма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Observer — реакция на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загрузку файлов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Стек: PHP 8.1, Mustache,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Bootstrap 5, AJAX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Times New Roman"/>
              </a:rPr>
              <a:t>Алгоритмы сравнения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8000" y="1188000"/>
            <a:ext cx="5688000" cy="5040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</a:rPr>
              <a:t>Шинглы + коэффициент Жаккара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944000"/>
            <a:ext cx="540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000" b="1" i="0">
                <a:solidFill>
                  <a:srgbClr val="1F3A5F"/>
                </a:solidFill>
                <a:latin typeface="Times New Roman"/>
              </a:rPr>
              <a:t>J(A, B) = |A ∩ B| / |A ∪ B|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2412000"/>
            <a:ext cx="5400000" cy="360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1. Нормализация текста: нижний регистр, удаление знаков препинания.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2. Разбиение на k-шинглы (k=5–7 слов).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3. Хеширование каждого шингла (CRC32).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4. Вычисление J(A, B) ∈ [0, 1].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Применяется к: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• DOCX, PDF, TXT, ODT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• XLSX (строковое представление)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Работа Бродера [8]: k=5–7 — баланс между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чувствительностью к переформулировкам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и устойчивостью к случайным совпадениям.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0000" y="1188000"/>
            <a:ext cx="5688000" cy="5040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</a:rPr>
              <a:t>Winnowing для исходного кода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999" y="1944000"/>
            <a:ext cx="5400000" cy="41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Оригинальный алгоритм Schleimer et al. [9]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(используется в MOSS Stanford).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1. Токенизация: имена → __ID__, строки → __STR__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   (устойчивость к переименованиям).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2. Построение k-грамм (k=5).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3. Rolling hash для каждой k-граммы.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4. Скользящее окно w=4 — минимум в каждой позиции.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5. Набор хешей = отпечаток документа.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6. Сравнение отпечатков по Жаккару.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Применяется к: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• Python, Java, C++, PHP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Times New Roman"/>
              </a:rPr>
              <a:t>k=5, w=4 — классические значения из [9].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Times New Roman"/>
              </a:rPr>
              <a:t>Реализация: структура кода и примеры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8000" y="1188000"/>
            <a:ext cx="2772000" cy="827999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3000" b="1">
                <a:solidFill>
                  <a:srgbClr val="000000"/>
                </a:solidFill>
                <a:latin typeface="Times New Roman"/>
              </a:rPr>
              <a:t>22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PHP-файла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4000" y="1188000"/>
            <a:ext cx="2772000" cy="827999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3000" b="1">
                <a:solidFill>
                  <a:srgbClr val="000000"/>
                </a:solidFill>
                <a:latin typeface="Times New Roman"/>
              </a:rPr>
              <a:t>4 362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строки PHP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0000" y="1188000"/>
            <a:ext cx="2772000" cy="827999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3000" b="1">
                <a:solidFill>
                  <a:srgbClr val="000000"/>
                </a:solidFill>
                <a:latin typeface="Times New Roman"/>
              </a:rPr>
              <a:t>5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таблиц БД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36000" y="1188000"/>
            <a:ext cx="2772000" cy="827999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3000" b="1">
                <a:solidFill>
                  <a:srgbClr val="000000"/>
                </a:solidFill>
                <a:latin typeface="Times New Roman"/>
              </a:rPr>
              <a:t>2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языка локализации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2268000"/>
            <a:ext cx="5688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Times New Roman"/>
              </a:rPr>
              <a:t>Листинг 4.3 — Winnowing (classes/analyser.php)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" y="2592000"/>
            <a:ext cx="5688000" cy="3528000"/>
          </a:xfrm>
          <a:prstGeom prst="roundRect">
            <a:avLst/>
          </a:prstGeom>
          <a:solidFill>
            <a:srgbClr val="F6F6F0"/>
          </a:solidFill>
          <a:ln w="1524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public static function winnowing_fingerprints(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        string $code,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        int $k = 5, int $w = 4): array {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    $tokens = self::tokenise_code($code);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    $kgrams = self::kgrams($tokens, $k);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    $hashes = array_map('crc32', $kgrams);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    $fp = [];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    for ($i = 0; $i + $w &lt; count($hashes); $i++) {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        $window = array_slice($hashes, $i, $w);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        $fp[] = min($window);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    }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    return array_unique($fp);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2268000"/>
            <a:ext cx="5688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Times New Roman"/>
              </a:rPr>
              <a:t>Ключевые классы плагина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20000" y="2592000"/>
          <a:ext cx="5688000" cy="35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000"/>
                <a:gridCol w="2844000"/>
              </a:tblGrid>
              <a:tr h="392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Файл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Назначение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lib.php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Точка входа Plugin API, hook-и Moodle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classes/analyser.php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Ядро: Жаккар + Winnowing, сравнение пар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classes/text_extractor.php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Парсинг DOCX/PDF/XLSX/кода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classes/task/process_queue.php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Фоновая scheduled-task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classes/file_types.php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Определение типа файла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db/install.xml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Схема 5 таблиц плагина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report.php, pair.php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Страницы отчёта и пары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lang/ru, lang/en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</a:rPr>
                        <a:t>Локализация интерфейса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Times New Roman"/>
              </a:rPr>
              <a:t>Тестирование плагина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00" y="1188000"/>
            <a:ext cx="5688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Times New Roman"/>
              </a:rPr>
              <a:t>29 модульных тестов, PHPUnit</a:t>
            </a:r>
          </a:p>
        </p:txBody>
      </p:sp>
      <p:pic>
        <p:nvPicPr>
          <p:cNvPr id="4" name="Picture 3" descr="pic_4_3_php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1548000"/>
            <a:ext cx="5688000" cy="290139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88000" y="4608000"/>
            <a:ext cx="5688000" cy="1512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Покрытие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12 тестов `analyser_test` — корректность метрики Жаккара и Winnowing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10 тестов `text_extractor_test` — парсинг DOCX, PDF, кода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7 тестов `queue_test` — жизненный цикл задач очереди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Coverage: строки 58,3 %, методы 73,1 %, классы 80 %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0" y="1188000"/>
            <a:ext cx="5688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Times New Roman"/>
              </a:rPr>
              <a:t>3 сценария интеграционного тестирования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0000" y="1548000"/>
          <a:ext cx="5688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000"/>
                <a:gridCol w="1896000"/>
                <a:gridCol w="1896000"/>
              </a:tblGrid>
              <a:tr h="648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Сценарий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Факт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Статус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Группа 5, 10 пар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1 high, 1 mid, 8 low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Мусорный PDF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failed без падения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Группа 30, 435 пар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18 мин 42 с, 387 МБ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120000" y="4320000"/>
            <a:ext cx="5688000" cy="1800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Найденные и устранённые дефекты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Первая версия `extract_docx` падала на DOCX с OLE — исправлено через `libxml_use_internal_errors`. Большие архивы (&gt;50 МБ) упирались в memory_limit=128M — поднято до 256 МБ. Шаблонные титульники давали ложные 25–30 % — тюнинг `shingle_size` до 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Times New Roman"/>
              </a:rPr>
              <a:t>Оценка эффективности снижения трудозатрат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88000" y="1188000"/>
          <a:ext cx="612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/>
                <a:gridCol w="1224000"/>
                <a:gridCol w="1224000"/>
                <a:gridCol w="1224000"/>
                <a:gridCol w="1224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Размер группы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Пар C(N, 2)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Ручная проверка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С плагином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Экономия</a:t>
                      </a:r>
                    </a:p>
                  </a:txBody>
                  <a:tcPr anchor="ctr" marL="43200" marR="43200" marT="18000" marB="18000">
                    <a:solidFill>
                      <a:srgbClr val="1F3A5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15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105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2 ч 37 мин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7 мин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×22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25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300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7 ч 30 мин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15 мин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×30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435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10 ч 53 мин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20 мин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×32</a:t>
                      </a:r>
                    </a:p>
                  </a:txBody>
                  <a:tcPr anchor="ctr" marL="43200" marR="43200" marT="18000" marB="1800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1 225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30 ч 37 мин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45 мин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</a:rPr>
                        <a:t>×40</a:t>
                      </a:r>
                    </a:p>
                  </a:txBody>
                  <a:tcPr anchor="ctr" marL="43200" marR="43200" marT="18000" marB="18000">
                    <a:solidFill>
                      <a:srgbClr val="FAE9A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52000" y="1188000"/>
            <a:ext cx="5328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Times New Roman"/>
              </a:rPr>
              <a:t>Точность на синтетическом датасете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2000" y="1620000"/>
            <a:ext cx="5328000" cy="720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3600" b="1">
                <a:solidFill>
                  <a:srgbClr val="000000"/>
                </a:solidFill>
                <a:latin typeface="Times New Roman"/>
              </a:rPr>
              <a:t>90%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recall (18/20)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2000" y="2448000"/>
            <a:ext cx="5328000" cy="720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3600" b="1">
                <a:solidFill>
                  <a:srgbClr val="000000"/>
                </a:solidFill>
                <a:latin typeface="Times New Roman"/>
              </a:rPr>
              <a:t>95%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precision (18/19)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2000" y="3276000"/>
            <a:ext cx="5328000" cy="720000"/>
          </a:xfrm>
          <a:prstGeom prst="roundRect">
            <a:avLst/>
          </a:prstGeom>
          <a:solidFill>
            <a:srgbClr val="D4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3600" b="1">
                <a:solidFill>
                  <a:srgbClr val="000000"/>
                </a:solidFill>
                <a:latin typeface="Times New Roman"/>
              </a:rPr>
              <a:t>0,925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F1-score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" y="4068000"/>
            <a:ext cx="11592000" cy="2052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2000" b="1">
                <a:solidFill>
                  <a:srgbClr val="1F3A5F"/>
                </a:solidFill>
                <a:latin typeface="Times New Roman"/>
              </a:rPr>
              <a:t>Система готова к релизу</a:t>
            </a:r>
          </a:p>
          <a:p>
            <a:pPr algn="l"/>
            <a:r>
              <a:rPr sz="1600" b="0">
                <a:solidFill>
                  <a:srgbClr val="1F3A5F"/>
                </a:solidFill>
                <a:latin typeface="Times New Roman"/>
              </a:rPr>
              <a:t>Типовой случай — группа 25 человек. Было: 7 часов 30 минут ручной работы. Стало: 15 минут фонового серверного времени. Экономия — в 30 раз. Качественный сдвиг: вместо выборочной проверки случайных работ преподаватель охватывает все задания курса.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 i="0">
                <a:solidFill>
                  <a:srgbClr val="1F3A5F"/>
                </a:solidFill>
                <a:latin typeface="Times New Roman"/>
              </a:rPr>
              <a:t>Перспективы развития</a:t>
            </a:r>
          </a:p>
        </p:txBody>
      </p:sp>
      <p:sp>
        <p:nvSpPr>
          <p:cNvPr id="3" name="Oval 2"/>
          <p:cNvSpPr/>
          <p:nvPr/>
        </p:nvSpPr>
        <p:spPr>
          <a:xfrm>
            <a:off x="1080000" y="1260000"/>
            <a:ext cx="648000" cy="648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00" y="2088000"/>
            <a:ext cx="2232000" cy="4031999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Семантические эмбеддинги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SBERT вместо шинглов —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ловит перефразирование,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которое Жаккар пропускает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по построению</a:t>
            </a:r>
          </a:p>
        </p:txBody>
      </p:sp>
      <p:sp>
        <p:nvSpPr>
          <p:cNvPr id="5" name="Oval 4"/>
          <p:cNvSpPr/>
          <p:nvPr/>
        </p:nvSpPr>
        <p:spPr>
          <a:xfrm>
            <a:off x="3401999" y="1260000"/>
            <a:ext cx="648000" cy="648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0000" y="2088000"/>
            <a:ext cx="2232000" cy="4031999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OCR для изображений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tesseract для PNG/JPG —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распознавание рукописных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решений по математике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и физике</a:t>
            </a:r>
          </a:p>
        </p:txBody>
      </p:sp>
      <p:sp>
        <p:nvSpPr>
          <p:cNvPr id="7" name="Oval 6"/>
          <p:cNvSpPr/>
          <p:nvPr/>
        </p:nvSpPr>
        <p:spPr>
          <a:xfrm>
            <a:off x="5724000" y="1260000"/>
            <a:ext cx="648000" cy="648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2000" y="2088000"/>
            <a:ext cx="2232000" cy="4031999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Кросс-проверка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Интеграция с «Антиплагиат»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для выпускных работ,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требующих сравнения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с внешней веб-базой</a:t>
            </a:r>
          </a:p>
        </p:txBody>
      </p:sp>
      <p:sp>
        <p:nvSpPr>
          <p:cNvPr id="9" name="Oval 8"/>
          <p:cNvSpPr/>
          <p:nvPr/>
        </p:nvSpPr>
        <p:spPr>
          <a:xfrm>
            <a:off x="8046000" y="1260000"/>
            <a:ext cx="648000" cy="648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54000" y="2088000"/>
            <a:ext cx="2232000" cy="4031999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Админская аналитика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Агрегированные метрики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по курсам и факультетам: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«курс с наиболее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подозрительной активностью»</a:t>
            </a:r>
          </a:p>
        </p:txBody>
      </p:sp>
      <p:sp>
        <p:nvSpPr>
          <p:cNvPr id="11" name="Oval 10"/>
          <p:cNvSpPr/>
          <p:nvPr/>
        </p:nvSpPr>
        <p:spPr>
          <a:xfrm>
            <a:off x="10368000" y="1260000"/>
            <a:ext cx="648000" cy="648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76000" y="2088000"/>
            <a:ext cx="2232000" cy="4031999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Moodle Workplace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Адаптация под корпоративную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версию Moodle для обучения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сотрудников компаний —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ролевая модель и learning paths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8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40000" y="1980000"/>
            <a:ext cx="9313200" cy="2520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6000" b="1">
                <a:solidFill>
                  <a:srgbClr val="1F3A5F"/>
                </a:solidFill>
                <a:latin typeface="Times New Roman"/>
              </a:rPr>
              <a:t>Спасибо за внимание!</a:t>
            </a:r>
          </a:p>
          <a:p>
            <a:pPr algn="ctr"/>
            <a:r>
              <a:rPr sz="1400" b="0">
                <a:solidFill>
                  <a:srgbClr val="1F3A5F"/>
                </a:solidFill>
                <a:latin typeface="Times New Roman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4680000"/>
            <a:ext cx="9313200" cy="14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800" b="0" i="0">
                <a:solidFill>
                  <a:srgbClr val="1F3A5F"/>
                </a:solidFill>
                <a:latin typeface="Times New Roman"/>
              </a:rPr>
              <a:t>Михайлов Денис Артемович · группа ЭФБО-06-22</a:t>
            </a:r>
          </a:p>
          <a:p>
            <a:pPr algn="ctr"/>
            <a:r>
              <a:rPr sz="1800" b="0" i="0">
                <a:solidFill>
                  <a:srgbClr val="1F3A5F"/>
                </a:solidFill>
                <a:latin typeface="Times New Roman"/>
              </a:rPr>
              <a:t>Научный руководитель: к.т.н., доцент Лукьянов П. В.</a:t>
            </a:r>
          </a:p>
          <a:p>
            <a:pPr algn="ctr"/>
            <a:r>
              <a:rPr sz="1800" b="0" i="0">
                <a:solidFill>
                  <a:srgbClr val="1F3A5F"/>
                </a:solidFill>
                <a:latin typeface="Times New Roman"/>
              </a:rPr>
              <a:t>Кафедра индустриального программирования ИПТИП МИРЭА</a:t>
            </a:r>
          </a:p>
          <a:p>
            <a:pPr algn="ctr"/>
            <a:r>
              <a:rPr sz="1800" b="0" i="0">
                <a:solidFill>
                  <a:srgbClr val="1F3A5F"/>
                </a:solidFill>
                <a:latin typeface="Times New Roman"/>
              </a:rPr>
              <a:t/>
            </a:r>
          </a:p>
          <a:p>
            <a:pPr algn="ctr"/>
            <a:r>
              <a:rPr sz="1800" b="0" i="0">
                <a:solidFill>
                  <a:srgbClr val="1F3A5F"/>
                </a:solidFill>
                <a:latin typeface="Times New Roman"/>
              </a:rPr>
              <a:t>Готов ответить на ваши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