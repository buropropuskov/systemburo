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82" r:id="rId9"/>
    <p:sldId id="275" r:id="rId10"/>
    <p:sldId id="276" r:id="rId11"/>
    <p:sldId id="277" r:id="rId12"/>
    <p:sldId id="278" r:id="rId13"/>
    <p:sldId id="269" r:id="rId14"/>
    <p:sldId id="273" r:id="rId15"/>
    <p:sldId id="279" r:id="rId16"/>
    <p:sldId id="280" r:id="rId17"/>
    <p:sldId id="281" r:id="rId18"/>
    <p:sldId id="270" r:id="rId19"/>
    <p:sldId id="271" r:id="rId20"/>
    <p:sldId id="274" r:id="rId21"/>
    <p:sldId id="283" r:id="rId22"/>
    <p:sldId id="263" r:id="rId23"/>
  </p:sldIdLst>
  <p:sldSz cx="12192000" cy="6858000"/>
  <p:notesSz cx="12192000" cy="6858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DIN Pro Regular" panose="020B0504020101020102" charset="-52"/>
      <p:regular r:id="rId28"/>
      <p:italic r:id="rId29"/>
      <p:bold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orient="horz" pos="482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orient="horz" pos="1366">
          <p15:clr>
            <a:srgbClr val="A4A3A4"/>
          </p15:clr>
        </p15:guide>
        <p15:guide id="5" orient="horz" pos="2341">
          <p15:clr>
            <a:srgbClr val="A4A3A4"/>
          </p15:clr>
        </p15:guide>
        <p15:guide id="6" orient="horz" pos="2591">
          <p15:clr>
            <a:srgbClr val="A4A3A4"/>
          </p15:clr>
        </p15:guide>
        <p15:guide id="7" orient="horz" pos="2523">
          <p15:clr>
            <a:srgbClr val="A4A3A4"/>
          </p15:clr>
        </p15:guide>
        <p15:guide id="8" orient="horz" pos="1117">
          <p15:clr>
            <a:srgbClr val="A4A3A4"/>
          </p15:clr>
        </p15:guide>
        <p15:guide id="9" orient="horz" pos="436">
          <p15:clr>
            <a:srgbClr val="A4A3A4"/>
          </p15:clr>
        </p15:guide>
        <p15:guide id="10" orient="horz" pos="1253">
          <p15:clr>
            <a:srgbClr val="A4A3A4"/>
          </p15:clr>
        </p15:guide>
        <p15:guide id="11" orient="horz" pos="2047">
          <p15:clr>
            <a:srgbClr val="A4A3A4"/>
          </p15:clr>
        </p15:guide>
        <p15:guide id="12" pos="2479">
          <p15:clr>
            <a:srgbClr val="A4A3A4"/>
          </p15:clr>
        </p15:guide>
        <p15:guide id="13" pos="5518">
          <p15:clr>
            <a:srgbClr val="A4A3A4"/>
          </p15:clr>
        </p15:guide>
        <p15:guide id="14" pos="6698">
          <p15:clr>
            <a:srgbClr val="A4A3A4"/>
          </p15:clr>
        </p15:guide>
        <p15:guide id="15" pos="5450">
          <p15:clr>
            <a:srgbClr val="A4A3A4"/>
          </p15:clr>
        </p15:guide>
        <p15:guide id="16" pos="6176">
          <p15:clr>
            <a:srgbClr val="A4A3A4"/>
          </p15:clr>
        </p15:guide>
        <p15:guide id="17" pos="1527">
          <p15:clr>
            <a:srgbClr val="A4A3A4"/>
          </p15:clr>
        </p15:guide>
        <p15:guide id="18" pos="3092">
          <p15:clr>
            <a:srgbClr val="A4A3A4"/>
          </p15:clr>
        </p15:guide>
        <p15:guide id="19" pos="5382">
          <p15:clr>
            <a:srgbClr val="A4A3A4"/>
          </p15:clr>
        </p15:guide>
        <p15:guide id="20" pos="960">
          <p15:clr>
            <a:srgbClr val="A4A3A4"/>
          </p15:clr>
        </p15:guide>
        <p15:guide id="21" pos="2434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48"/>
      </p:cViewPr>
      <p:guideLst>
        <p:guide orient="horz" pos="3090"/>
        <p:guide orient="horz" pos="482"/>
        <p:guide orient="horz" pos="1162"/>
        <p:guide orient="horz" pos="1366"/>
        <p:guide orient="horz" pos="2341"/>
        <p:guide orient="horz" pos="2591"/>
        <p:guide orient="horz" pos="2523"/>
        <p:guide orient="horz" pos="1117"/>
        <p:guide orient="horz" pos="436"/>
        <p:guide orient="horz" pos="1253"/>
        <p:guide orient="horz" pos="2047"/>
        <p:guide pos="2479"/>
        <p:guide pos="5518"/>
        <p:guide pos="6698"/>
        <p:guide pos="5450"/>
        <p:guide pos="6176"/>
        <p:guide pos="1527"/>
        <p:guide pos="3092"/>
        <p:guide pos="5382"/>
        <p:guide pos="960"/>
        <p:guide pos="2434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9.bin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11.bin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12.bin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5.vml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9.v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3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2" name="Прямая соединительная линия 1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28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2" name="Прямая соединительная линия 1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28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0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1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2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3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4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5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6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7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8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9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0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2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3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4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5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6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7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8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9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0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1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2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/>
              <a:t>Основной цвет</a:t>
            </a:r>
            <a:endParaRPr/>
          </a:p>
        </p:txBody>
      </p:sp>
      <p:sp>
        <p:nvSpPr>
          <p:cNvPr id="53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/>
              <a:t>Дополнительный цвет</a:t>
            </a:r>
            <a:endParaRPr/>
          </a:p>
        </p:txBody>
      </p:sp>
      <p:sp>
        <p:nvSpPr>
          <p:cNvPr id="54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Цвета университета</a:t>
            </a:r>
            <a:br>
              <a:rPr lang="ru-RU" sz="2400" baseline="30000"/>
            </a:br>
            <a:r>
              <a:rPr lang="ru-RU" sz="2400" baseline="30000"/>
              <a:t>и филиалов</a:t>
            </a:r>
            <a:endParaRPr/>
          </a:p>
        </p:txBody>
      </p:sp>
      <p:sp>
        <p:nvSpPr>
          <p:cNvPr id="55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/>
              <a:t>Градиент</a:t>
            </a:r>
            <a:endParaRPr/>
          </a:p>
        </p:txBody>
      </p:sp>
      <p:sp>
        <p:nvSpPr>
          <p:cNvPr id="56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Цвета институтов</a:t>
            </a:r>
            <a:endParaRPr/>
          </a:p>
        </p:txBody>
      </p:sp>
      <p:sp>
        <p:nvSpPr>
          <p:cNvPr id="5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 колледжа</a:t>
            </a:r>
            <a:endParaRPr/>
          </a:p>
        </p:txBody>
      </p:sp>
      <p:sp>
        <p:nvSpPr>
          <p:cNvPr id="58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ИИИ</a:t>
            </a:r>
            <a:endParaRPr/>
          </a:p>
        </p:txBody>
      </p:sp>
      <p:grpSp>
        <p:nvGrpSpPr>
          <p:cNvPr id="96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sp>
        <p:nvSpPr>
          <p:cNvPr id="63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97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6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72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2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3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5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4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98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7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8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99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100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33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2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44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46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101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102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2" name="Прямая соединительная линия 1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03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4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104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27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DIN Pro Medium"/>
                <a:ea typeface="Arial"/>
                <a:cs typeface="Arial"/>
              </a:rPr>
              <a:t>Институт искусственного интеллекта</a:t>
            </a:r>
            <a:endParaRPr/>
          </a:p>
        </p:txBody>
      </p:sp>
      <p:grpSp>
        <p:nvGrpSpPr>
          <p:cNvPr id="38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6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05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6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Medium"/>
                <a:ea typeface="Arial"/>
                <a:cs typeface="Arial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20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3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" name="Рисунок 8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06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57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58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60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DIN Pro Medium"/>
                <a:ea typeface="Arial"/>
                <a:cs typeface="Arial"/>
              </a:rPr>
              <a:t>Институт информационных технологий</a:t>
            </a:r>
            <a:endParaRPr/>
          </a:p>
        </p:txBody>
      </p:sp>
      <p:grpSp>
        <p:nvGrpSpPr>
          <p:cNvPr id="61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83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" name="Рисунок 6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07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6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20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DIN Pro Medium"/>
                <a:ea typeface="Arial"/>
                <a:cs typeface="Arial"/>
              </a:rPr>
              <a:t>Институт технологий управления</a:t>
            </a:r>
            <a:endParaRPr/>
          </a:p>
        </p:txBody>
      </p:sp>
      <p:grpSp>
        <p:nvGrpSpPr>
          <p:cNvPr id="28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08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4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9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Medium"/>
                <a:ea typeface="Arial"/>
                <a:cs typeface="Arial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Medium"/>
                <a:ea typeface="Arial"/>
                <a:cs typeface="Arial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Medium"/>
                <a:ea typeface="Arial"/>
                <a:cs typeface="Arial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21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09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4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21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DIN Pro Medium"/>
                <a:ea typeface="Arial"/>
                <a:cs typeface="Arial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23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10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4" name="Title 1"/>
          <p:cNvSpPr txBox="1"/>
          <p:nvPr userDrawn="1"/>
        </p:nvSpPr>
        <p:spPr bwMode="auto">
          <a:xfrm>
            <a:off x="2402922" y="368869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DIN Pro Medium"/>
                <a:ea typeface="Arial"/>
                <a:cs typeface="Arial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11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4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DIN Pro Medium"/>
                <a:ea typeface="Arial"/>
                <a:cs typeface="Arial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DIN Pro Medium"/>
                <a:ea typeface="Arial"/>
                <a:cs typeface="Arial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DIN Pro Medium"/>
                <a:ea typeface="Arial"/>
                <a:cs typeface="Arial"/>
              </a:rPr>
              <a:t>и кибербезопасности</a:t>
            </a:r>
            <a:endParaRPr/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0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oleObj" r:id="rId5" imgW="0" imgH="0" progId="TCLayout.ActiveDocument.1">
                  <p:embed/>
                </p:oleObj>
              </mc:Choice>
              <mc:Fallback>
                <p:oleObj name="oleObj" r:id="rId5" imgW="0" imgH="0" progId="TCLayout.ActiveDocument.1">
                  <p:embed/>
                  <p:pic>
                    <p:nvPicPr>
                      <p:cNvPr id="112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14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Medium"/>
                <a:ea typeface="Arial"/>
                <a:cs typeface="Arial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Medium"/>
                <a:ea typeface="Arial"/>
                <a:cs typeface="Arial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Medium"/>
                <a:ea typeface="Arial"/>
                <a:cs typeface="Arial"/>
              </a:rPr>
              <a:t>СВЧ-электроники</a:t>
            </a:r>
            <a:endParaRPr/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Arial"/>
                <a:cs typeface="Arial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oleObj" r:id="rId3" imgW="0" imgH="0" progId="TCLayout.ActiveDocument.1">
                  <p:embed/>
                </p:oleObj>
              </mc:Choice>
              <mc:Fallback>
                <p:oleObj name="oleObj" r:id="rId3" imgW="0" imgH="0" progId="TCLayout.ActiveDocument.1">
                  <p:embed/>
                  <p:pic>
                    <p:nvPicPr>
                      <p:cNvPr id="113" name=""/>
                      <p:cNvPicPr/>
                      <p:nvPr/>
                    </p:nvPicPr>
                    <p:blipFill>
                      <a:blip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object 4"/>
          <p:cNvPicPr/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DIN Pro Medium"/>
              <a:ea typeface="Arial"/>
              <a:cs typeface="Arial"/>
            </a:endParaRPr>
          </a:p>
        </p:txBody>
      </p:sp>
      <p:sp>
        <p:nvSpPr>
          <p:cNvPr id="6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sp>
        <p:nvSpPr>
          <p:cNvPr id="7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Arial"/>
              <a:cs typeface="Arial"/>
            </a:endParaRPr>
          </a:p>
        </p:txBody>
      </p:sp>
      <p:pic>
        <p:nvPicPr>
          <p:cNvPr id="8" name="object 214"/>
          <p:cNvPicPr/>
          <p:nvPr userDrawn="1"/>
        </p:nvPicPr>
        <p:blipFill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9" name="object 215"/>
          <p:cNvPicPr/>
          <p:nvPr userDrawn="1"/>
        </p:nvPicPr>
        <p:blipFill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DIN Pro Medium"/>
                <a:ea typeface="Arial"/>
                <a:cs typeface="Arial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DIN Pro Regular"/>
                <a:ea typeface="Arial"/>
                <a:cs typeface="Arial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879785"/>
              </p:ext>
            </p:ext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oleObj" r:id="rId23" imgW="0" imgH="0" progId="TCLayout.ActiveDocument.1">
                  <p:embed/>
                </p:oleObj>
              </mc:Choice>
              <mc:Fallback>
                <p:oleObj name="oleObj" r:id="rId23" imgW="0" imgH="0" progId="TCLayout.ActiveDocument.1">
                  <p:embed/>
                  <p:pic>
                    <p:nvPicPr>
                      <p:cNvPr id="2" name=""/>
                      <p:cNvPicPr/>
                      <p:nvPr/>
                    </p:nvPicPr>
                    <p:blipFill>
                      <a:blip r:embed="rId24"/>
                      <a:stretch/>
                    </p:blipFill>
                    <p:spPr bwMode="auto"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media22.sv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media21.svg"/><Relationship Id="rId5" Type="http://schemas.openxmlformats.org/officeDocument/2006/relationships/image" Target="../media/image28.png"/><Relationship Id="rId4" Type="http://schemas.openxmlformats.org/officeDocument/2006/relationships/image" Target="../media/media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Заголовок 1"/>
          <p:cNvSpPr>
            <a:spLocks noGrp="1"/>
          </p:cNvSpPr>
          <p:nvPr/>
        </p:nvSpPr>
        <p:spPr bwMode="auto">
          <a:xfrm>
            <a:off x="1420420" y="833421"/>
            <a:ext cx="9351146" cy="14907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b="0" i="0" u="none" strike="noStrike" cap="all" spc="0" dirty="0" smtClean="0">
                <a:ln>
                  <a:noFill/>
                </a:ln>
                <a:latin typeface="Times New Roman"/>
                <a:cs typeface="Times New Roman"/>
              </a:rPr>
              <a:t>МИНОБРНАУКИ </a:t>
            </a:r>
            <a:r>
              <a:rPr lang="ru-RU" sz="2000" b="0" i="0" u="none" strike="noStrike" cap="all" spc="0" dirty="0">
                <a:ln>
                  <a:noFill/>
                </a:ln>
                <a:latin typeface="Times New Roman"/>
                <a:cs typeface="Times New Roman"/>
              </a:rPr>
              <a:t>РОССИИ</a:t>
            </a:r>
            <a:r>
              <a:rPr lang="en-US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/>
            </a:r>
            <a:br>
              <a:rPr lang="en-US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учреждение</a:t>
            </a:r>
            <a:br>
              <a:rPr lang="ru-RU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высшего образования</a:t>
            </a:r>
            <a:br>
              <a:rPr lang="ru-RU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1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«МИРЭА – Российский технологический университет»</a:t>
            </a:r>
            <a:r>
              <a:rPr lang="ru-RU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/>
            </a:r>
            <a:br>
              <a:rPr lang="ru-RU" sz="2000" b="0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1" i="0" u="none" strike="noStrike" cap="none" spc="0" dirty="0" smtClean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РТУ </a:t>
            </a:r>
            <a:r>
              <a:rPr lang="ru-RU" sz="2000" b="1" i="0" u="none" strike="noStrike" cap="none" spc="0" dirty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МИРЭА</a:t>
            </a:r>
            <a:endParaRPr lang="ru-RU" sz="2000" dirty="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2312682" y="2298676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dirty="0">
                <a:latin typeface="Times New Roman"/>
                <a:cs typeface="Times New Roman"/>
              </a:rPr>
              <a:t>Институт перспективных технологий и индустриального программирования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 bwMode="auto">
          <a:xfrm>
            <a:off x="3128852" y="261364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dirty="0">
                <a:latin typeface="Times New Roman"/>
                <a:cs typeface="Times New Roman"/>
              </a:rPr>
              <a:t>Кафедра индустриального программирования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 bwMode="auto">
          <a:xfrm>
            <a:off x="2312681" y="3206551"/>
            <a:ext cx="75666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latin typeface="Times New Roman"/>
                <a:cs typeface="Times New Roman"/>
              </a:rPr>
              <a:t>«Система автоматизированного анализа документов на основе </a:t>
            </a:r>
            <a:r>
              <a:rPr lang="ru-RU" sz="2800" b="1" dirty="0" err="1">
                <a:latin typeface="Times New Roman"/>
                <a:cs typeface="Times New Roman"/>
              </a:rPr>
              <a:t>стартапа</a:t>
            </a:r>
            <a:r>
              <a:rPr lang="ru-RU" sz="2800" b="1" dirty="0">
                <a:latin typeface="Times New Roman"/>
                <a:cs typeface="Times New Roman"/>
              </a:rPr>
              <a:t> </a:t>
            </a:r>
            <a:r>
              <a:rPr lang="ru-RU" sz="2800" b="1" dirty="0" err="1">
                <a:latin typeface="Times New Roman"/>
                <a:cs typeface="Times New Roman"/>
              </a:rPr>
              <a:t>Dockee</a:t>
            </a:r>
            <a:r>
              <a:rPr lang="ru-RU" sz="2800" b="1" dirty="0">
                <a:latin typeface="Times New Roman"/>
                <a:cs typeface="Times New Roman"/>
              </a:rPr>
              <a:t> для выявления рисков и признаков мошенничества»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6010874" y="4384231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Подготовил:</a:t>
            </a:r>
            <a:endParaRPr dirty="0"/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студент группы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ЭФБО-02-22</a:t>
            </a:r>
            <a:endParaRPr dirty="0"/>
          </a:p>
          <a:p>
            <a:pPr algn="r">
              <a:defRPr/>
            </a:pPr>
            <a:r>
              <a:rPr lang="ru-RU" dirty="0" smtClean="0">
                <a:latin typeface="Times New Roman"/>
                <a:ea typeface="Verdana"/>
                <a:cs typeface="Times New Roman"/>
              </a:rPr>
              <a:t>Мякотных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Сергей Михайлович</a:t>
            </a:r>
            <a:endParaRPr dirty="0"/>
          </a:p>
          <a:p>
            <a:pPr algn="r">
              <a:defRPr/>
            </a:pPr>
            <a:endParaRPr lang="ru-RU" dirty="0">
              <a:latin typeface="Times New Roman"/>
              <a:ea typeface="Verdana"/>
              <a:cs typeface="Times New Roman"/>
            </a:endParaRPr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Руководитель:</a:t>
            </a:r>
            <a:endParaRPr dirty="0"/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к. </a:t>
            </a:r>
            <a:r>
              <a:rPr lang="ru-RU" dirty="0" err="1">
                <a:latin typeface="Times New Roman"/>
                <a:ea typeface="Verdana"/>
                <a:cs typeface="Times New Roman"/>
              </a:rPr>
              <a:t>пед</a:t>
            </a:r>
            <a:r>
              <a:rPr lang="ru-RU" dirty="0">
                <a:latin typeface="Times New Roman"/>
                <a:ea typeface="Verdana"/>
                <a:cs typeface="Times New Roman"/>
              </a:rPr>
              <a:t>. н, доцент, доцент кафедры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ИП</a:t>
            </a:r>
          </a:p>
          <a:p>
            <a:pPr algn="r">
              <a:defRPr/>
            </a:pPr>
            <a:r>
              <a:rPr lang="ru-RU" dirty="0" smtClean="0">
                <a:latin typeface="Times New Roman"/>
                <a:ea typeface="Verdana"/>
                <a:cs typeface="Times New Roman"/>
              </a:rPr>
              <a:t>Громов Евгений Владимирович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16199999">
            <a:off x="6763562" y="1429560"/>
            <a:ext cx="6880621" cy="3976256"/>
          </a:xfrm>
          <a:prstGeom prst="rect">
            <a:avLst/>
          </a:prstGeom>
        </p:spPr>
      </p:pic>
      <p:sp>
        <p:nvSpPr>
          <p:cNvPr id="42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DIN Pro Regular"/>
                <a:ea typeface="Arial"/>
                <a:cs typeface="Arial"/>
              </a:rPr>
              <a:t>2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DIN Pro Regular"/>
              <a:ea typeface="Arial"/>
              <a:cs typeface="Arial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/>
          <p:cNvGrpSpPr/>
          <p:nvPr/>
        </p:nvGrpSpPr>
        <p:grpSpPr bwMode="auto">
          <a:xfrm>
            <a:off x="9743356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5" name="Полилиния: фигура 3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sp>
          <p:nvSpPr>
            <p:cNvPr id="14" name="Полилиния: фигура 1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Arial"/>
                <a:cs typeface="Arial"/>
              </a:endParaRPr>
            </a:p>
          </p:txBody>
        </p:sp>
        <p:grpSp>
          <p:nvGrpSpPr>
            <p:cNvPr id="16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30" name="Полилиния: фигура 29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Arial"/>
                  <a:cs typeface="Arial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 bwMode="auto">
          <a:xfrm>
            <a:off x="329316" y="239827"/>
            <a:ext cx="7696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Актуальность исследования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29316" y="1000288"/>
            <a:ext cx="8053303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/>
            </a:pPr>
            <a:r>
              <a:rPr lang="ru-RU" sz="2000" dirty="0">
                <a:solidFill>
                  <a:srgbClr val="000000"/>
                </a:solidFill>
                <a:latin typeface="Times New Roman"/>
              </a:rPr>
              <a:t>Разработка удобного, интуитивно понятного и безопасного пользовательского интерфейса – ключевое условие для эффективного внедрения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</a:rPr>
              <a:t>искусственного интеллекта 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в юридическую практику.</a:t>
            </a:r>
            <a:endParaRPr lang="ru-RU" sz="16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73" y="2761878"/>
            <a:ext cx="6410325" cy="37565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 bwMode="auto">
          <a:xfrm>
            <a:off x="125414" y="1779435"/>
            <a:ext cx="27840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>
                <a:latin typeface="Times New Roman"/>
                <a:cs typeface="Times New Roman"/>
              </a:rPr>
              <a:t>Объект исследования: </a:t>
            </a:r>
            <a:endParaRPr lang="en-US" sz="2000" b="1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2000" dirty="0" smtClean="0">
                <a:latin typeface="Times New Roman"/>
                <a:cs typeface="Times New Roman"/>
              </a:rPr>
              <a:t>Процесс автоматизированного анализа документов</a:t>
            </a:r>
            <a:endParaRPr lang="ru-RU" sz="2000" b="1" dirty="0">
              <a:latin typeface="Times New Roman"/>
              <a:cs typeface="Times New Roman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3313536" y="1779435"/>
            <a:ext cx="26458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>
                <a:latin typeface="Times New Roman"/>
                <a:cs typeface="Times New Roman"/>
              </a:rPr>
              <a:t>Предмет исследования: </a:t>
            </a:r>
            <a:endParaRPr lang="en-US" sz="2000" b="1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2000" dirty="0" smtClean="0">
                <a:latin typeface="Times New Roman"/>
                <a:cs typeface="Times New Roman"/>
              </a:rPr>
              <a:t>Пользовательский интерфейс для работы с документами и результатами анализа</a:t>
            </a:r>
            <a:endParaRPr dirty="0"/>
          </a:p>
        </p:txBody>
      </p:sp>
      <p:sp>
        <p:nvSpPr>
          <p:cNvPr id="45" name="TextBox 44"/>
          <p:cNvSpPr txBox="1"/>
          <p:nvPr/>
        </p:nvSpPr>
        <p:spPr bwMode="auto">
          <a:xfrm>
            <a:off x="266535" y="4043251"/>
            <a:ext cx="41464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b="1" dirty="0">
                <a:solidFill>
                  <a:srgbClr val="000000"/>
                </a:solidFill>
                <a:latin typeface="Times New Roman"/>
              </a:rPr>
              <a:t>Цель исследования</a:t>
            </a:r>
            <a:r>
              <a:rPr lang="ru-RU" b="1" dirty="0" smtClean="0">
                <a:solidFill>
                  <a:srgbClr val="000000"/>
                </a:solidFill>
                <a:latin typeface="Times New Roman"/>
              </a:rPr>
              <a:t>:</a:t>
            </a:r>
          </a:p>
          <a:p>
            <a:pPr algn="ctr">
              <a:defRPr/>
            </a:pPr>
            <a:r>
              <a:rPr lang="ru-RU" dirty="0" smtClean="0">
                <a:solidFill>
                  <a:srgbClr val="000000"/>
                </a:solidFill>
                <a:latin typeface="Times New Roman"/>
              </a:rPr>
              <a:t>Разработка </a:t>
            </a:r>
            <a:r>
              <a:rPr lang="ru-RU" dirty="0">
                <a:solidFill>
                  <a:srgbClr val="000000"/>
                </a:solidFill>
                <a:latin typeface="Times New Roman"/>
              </a:rPr>
              <a:t>системы автоматизированного анализа документов, </a:t>
            </a:r>
            <a:r>
              <a:rPr lang="ru-RU" dirty="0" smtClean="0">
                <a:solidFill>
                  <a:srgbClr val="000000"/>
                </a:solidFill>
                <a:latin typeface="Times New Roman"/>
              </a:rPr>
              <a:t>позволяющая выявлять риски в документах и </a:t>
            </a:r>
            <a:r>
              <a:rPr lang="ru-RU" dirty="0">
                <a:solidFill>
                  <a:srgbClr val="000000"/>
                </a:solidFill>
                <a:latin typeface="Times New Roman"/>
              </a:rPr>
              <a:t>признаки мошенничества с помощью интегрированного ИИ-агента и средств защиты конфиденциальной информации.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46" name="Стрелка: вниз 25"/>
          <p:cNvSpPr/>
          <p:nvPr/>
        </p:nvSpPr>
        <p:spPr bwMode="auto">
          <a:xfrm rot="16199999">
            <a:off x="5252183" y="4142462"/>
            <a:ext cx="303320" cy="7335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50" name="Стрелка: вниз 26"/>
          <p:cNvSpPr/>
          <p:nvPr/>
        </p:nvSpPr>
        <p:spPr bwMode="auto">
          <a:xfrm rot="16199999">
            <a:off x="5460871" y="5006619"/>
            <a:ext cx="303320" cy="7335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51" name="Прямоугольник 50"/>
          <p:cNvSpPr/>
          <p:nvPr/>
        </p:nvSpPr>
        <p:spPr bwMode="auto">
          <a:xfrm>
            <a:off x="6159562" y="1179831"/>
            <a:ext cx="5914003" cy="5448743"/>
          </a:xfrm>
          <a:prstGeom prst="rect">
            <a:avLst/>
          </a:prstGeom>
          <a:noFill/>
          <a:ln w="38100">
            <a:solidFill>
              <a:srgbClr val="F1D6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 dirty="0">
                <a:solidFill>
                  <a:schemeClr val="tx1"/>
                </a:solidFill>
                <a:latin typeface="Times New Roman"/>
                <a:cs typeface="Times New Roman"/>
              </a:rPr>
              <a:t>Задачи исследования:</a:t>
            </a:r>
            <a:endParaRPr dirty="0"/>
          </a:p>
          <a:p>
            <a:pPr algn="just">
              <a:defRPr/>
            </a:pPr>
            <a:r>
              <a:rPr lang="ru-RU" dirty="0" smtClean="0">
                <a:solidFill>
                  <a:schemeClr val="tx1"/>
                </a:solidFill>
                <a:latin typeface="Times New Roman"/>
                <a:cs typeface="Times New Roman"/>
              </a:rPr>
              <a:t>1</a:t>
            </a: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. Провести анализ предметной области и существующих решений для выявления требований к пользовательскому интерфейсу.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2. Разработать информационную архитектуру и описать пользовательские сценарии.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3. Изучить вопросы безопасности и производительности клиентской части веб-приложений для принятия мер по защите данных и оптимизации.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4. Разработать прототипы и дизайн-макеты пользовательского интерфейса сервиса.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5. Изучить современные методы и инструменты разработки пользовательских интерфейсов, провести их сравнительный анализ и обосновать выбор технологий.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6. Разработать пользовательский интерфейс в соответствии с требованиями и прототипами.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7. Проанализировать результаты и внести правки по итогам обратной связи.</a:t>
            </a:r>
          </a:p>
          <a:p>
            <a:pPr algn="just">
              <a:defRPr/>
            </a:pPr>
            <a:r>
              <a:rPr lang="ru-RU" dirty="0">
                <a:solidFill>
                  <a:schemeClr val="tx1"/>
                </a:solidFill>
                <a:latin typeface="Times New Roman"/>
                <a:cs typeface="Times New Roman"/>
              </a:rPr>
              <a:t>8. Разработать пользовательскую документацию, инструкцию по эксплуатации приложения с описанием развертывания и сопровождения.</a:t>
            </a:r>
          </a:p>
          <a:p>
            <a:pPr algn="just">
              <a:defRPr/>
            </a:pPr>
            <a:endParaRPr dirty="0"/>
          </a:p>
        </p:txBody>
      </p:sp>
      <p:pic>
        <p:nvPicPr>
          <p:cNvPr id="52" name="Рисунок 51" descr="Контрольный список со сплошной заливкой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4"/>
              </a:ext>
            </a:extLst>
          </a:blip>
          <a:stretch/>
        </p:blipFill>
        <p:spPr bwMode="auto">
          <a:xfrm>
            <a:off x="1961986" y="3329652"/>
            <a:ext cx="713599" cy="713599"/>
          </a:xfrm>
          <a:prstGeom prst="rect">
            <a:avLst/>
          </a:prstGeom>
        </p:spPr>
      </p:pic>
      <p:pic>
        <p:nvPicPr>
          <p:cNvPr id="53" name="Рисунок 52" descr="Мозговой штурм группы контур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6"/>
              </a:ext>
            </a:extLst>
          </a:blip>
          <a:stretch/>
        </p:blipFill>
        <p:spPr bwMode="auto">
          <a:xfrm>
            <a:off x="4151102" y="972001"/>
            <a:ext cx="914400" cy="914400"/>
          </a:xfrm>
          <a:prstGeom prst="rect">
            <a:avLst/>
          </a:prstGeom>
        </p:spPr>
      </p:pic>
      <p:pic>
        <p:nvPicPr>
          <p:cNvPr id="54" name="Рисунок 53" descr="Человек с идеей контур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8"/>
              </a:ext>
            </a:extLst>
          </a:blip>
          <a:stretch/>
        </p:blipFill>
        <p:spPr bwMode="auto">
          <a:xfrm>
            <a:off x="1192133" y="972001"/>
            <a:ext cx="914400" cy="914400"/>
          </a:xfrm>
          <a:prstGeom prst="rect">
            <a:avLst/>
          </a:prstGeom>
        </p:spPr>
      </p:pic>
      <p:sp>
        <p:nvSpPr>
          <p:cNvPr id="55" name="Стрелка: вниз 22"/>
          <p:cNvSpPr/>
          <p:nvPr/>
        </p:nvSpPr>
        <p:spPr bwMode="auto">
          <a:xfrm rot="16199999">
            <a:off x="5252184" y="5946436"/>
            <a:ext cx="303320" cy="7335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59" name="TextBox 58"/>
          <p:cNvSpPr txBox="1"/>
          <p:nvPr/>
        </p:nvSpPr>
        <p:spPr bwMode="auto">
          <a:xfrm>
            <a:off x="319654" y="240140"/>
            <a:ext cx="136194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Объект, предмет, цель и задачи исследования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3512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Анализ рынка и существующих решений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74" y="1150025"/>
            <a:ext cx="10589245" cy="53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8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3512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Методы визуализации результатов анализа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45" y="908725"/>
            <a:ext cx="10971254" cy="572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8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3512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Интерактивное взаимодействие пользователя с ИИ и системой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9" y="1324323"/>
            <a:ext cx="11435712" cy="507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748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  <a:cs typeface="Times New Roman"/>
              </a:rPr>
              <a:t>Принципы проектирования пользовательского интерфейса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25" y="1366281"/>
            <a:ext cx="10228625" cy="534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3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Требования к пользовательскому интерфейсу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5" y="1092517"/>
            <a:ext cx="11391805" cy="48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725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Пользовательские истории </a:t>
            </a:r>
            <a:r>
              <a:rPr lang="en-US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(user stories)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6" y="908725"/>
            <a:ext cx="10748444" cy="575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9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Диаграммы прецедентов (</a:t>
            </a:r>
            <a:r>
              <a:rPr lang="en-US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use case)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5" y="4670926"/>
            <a:ext cx="7970509" cy="19950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140" y="808709"/>
            <a:ext cx="5082466" cy="433539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75" y="1103662"/>
            <a:ext cx="5165313" cy="31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9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Пользовательские потоки (</a:t>
            </a:r>
            <a:r>
              <a:rPr lang="en-US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user flow</a:t>
            </a: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30" y="1080963"/>
            <a:ext cx="11166583" cy="259169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55" y="4024312"/>
            <a:ext cx="11435993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7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Структура пользовательского интерфейса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5" y="1157287"/>
            <a:ext cx="8340838" cy="259729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539" y="1157287"/>
            <a:ext cx="3008802" cy="333158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279544"/>
            <a:ext cx="7749020" cy="234842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539" y="4737435"/>
            <a:ext cx="3073977" cy="88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solidFill>
                  <a:schemeClr val="tx2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Безопасность </a:t>
            </a:r>
            <a:r>
              <a:rPr lang="ru-RU" sz="3000" b="1" dirty="0">
                <a:solidFill>
                  <a:schemeClr val="tx2">
                    <a:lumMod val="95000"/>
                    <a:lumOff val="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 производительность клиентской части</a:t>
            </a:r>
            <a:endParaRPr sz="3000" b="1" dirty="0">
              <a:solidFill>
                <a:schemeClr val="tx2">
                  <a:lumMod val="95000"/>
                  <a:lumOff val="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5" y="1254472"/>
            <a:ext cx="11308019" cy="54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1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Вайрфреймы</a:t>
            </a: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и дизайн-макеты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4" y="908724"/>
            <a:ext cx="6846475" cy="564933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698" y="908723"/>
            <a:ext cx="4444021" cy="146040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698" y="2548542"/>
            <a:ext cx="4437174" cy="33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3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Вайрфреймы</a:t>
            </a: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и дизайн-макеты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25" y="908726"/>
            <a:ext cx="9703975" cy="575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9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Вайрфреймы</a:t>
            </a: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и дизайн-макеты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425" y="908724"/>
            <a:ext cx="3795608" cy="48953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30" y="729307"/>
            <a:ext cx="7292556" cy="592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0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Вайрфреймы</a:t>
            </a: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и дизайн-макеты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5" y="745291"/>
            <a:ext cx="9418225" cy="588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0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Выбор технологий и стек разработки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17" y="984925"/>
            <a:ext cx="11280321" cy="539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5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Выбор технологий и стек разработки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4" y="5438722"/>
            <a:ext cx="5627276" cy="119067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73" y="976745"/>
            <a:ext cx="11486913" cy="423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7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Разработка интерфейса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88808" y="908725"/>
            <a:ext cx="5132610" cy="1896679"/>
          </a:xfrm>
          <a:prstGeom prst="rect">
            <a:avLst/>
          </a:prstGeom>
        </p:spPr>
      </p:pic>
      <p:pic>
        <p:nvPicPr>
          <p:cNvPr id="13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211044" y="908725"/>
            <a:ext cx="5579745" cy="513842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085" y="2850551"/>
            <a:ext cx="3594813" cy="1342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1006" y="6226563"/>
            <a:ext cx="4369434" cy="11459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808" y="3477935"/>
            <a:ext cx="5478591" cy="22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2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3819" y="0"/>
            <a:ext cx="1102388" cy="9087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335375" y="175309"/>
            <a:ext cx="1043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Заключение и выводы</a:t>
            </a:r>
            <a:endParaRPr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5" y="952232"/>
            <a:ext cx="11062414" cy="55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9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053360" y="3333846"/>
            <a:ext cx="7482723" cy="1685133"/>
          </a:xfrm>
        </p:spPr>
        <p:txBody>
          <a:bodyPr/>
          <a:lstStyle/>
          <a:p>
            <a:pPr>
              <a:defRPr/>
            </a:pPr>
            <a:r>
              <a:rPr lang="ru-RU" sz="6000" dirty="0">
                <a:solidFill>
                  <a:schemeClr val="tx1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Спасибо за внимание</a:t>
            </a:r>
            <a:endParaRPr sz="6000" dirty="0">
              <a:solidFill>
                <a:schemeClr val="tx1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103813" y="1137527"/>
            <a:ext cx="75666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latin typeface="Times New Roman"/>
                <a:cs typeface="Times New Roman"/>
              </a:rPr>
              <a:t>«Система автоматизированного анализа документов на основе </a:t>
            </a:r>
            <a:r>
              <a:rPr lang="ru-RU" sz="2800" b="1" dirty="0" err="1">
                <a:latin typeface="Times New Roman"/>
                <a:cs typeface="Times New Roman"/>
              </a:rPr>
              <a:t>стартапа</a:t>
            </a:r>
            <a:r>
              <a:rPr lang="ru-RU" sz="2800" b="1" dirty="0">
                <a:latin typeface="Times New Roman"/>
                <a:cs typeface="Times New Roman"/>
              </a:rPr>
              <a:t> </a:t>
            </a:r>
            <a:r>
              <a:rPr lang="ru-RU" sz="2800" b="1" dirty="0" err="1">
                <a:latin typeface="Times New Roman"/>
                <a:cs typeface="Times New Roman"/>
              </a:rPr>
              <a:t>Dockee</a:t>
            </a:r>
            <a:r>
              <a:rPr lang="ru-RU" sz="2800" b="1" dirty="0">
                <a:latin typeface="Times New Roman"/>
                <a:cs typeface="Times New Roman"/>
              </a:rPr>
              <a:t> для выявления рисков и признаков мошенничества»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6010874" y="4384231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Подготовил:</a:t>
            </a:r>
            <a:endParaRPr dirty="0"/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студент группы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ЭФБО-02-22</a:t>
            </a:r>
            <a:endParaRPr dirty="0"/>
          </a:p>
          <a:p>
            <a:pPr algn="r">
              <a:defRPr/>
            </a:pPr>
            <a:r>
              <a:rPr lang="ru-RU" dirty="0" smtClean="0">
                <a:latin typeface="Times New Roman"/>
                <a:ea typeface="Verdana"/>
                <a:cs typeface="Times New Roman"/>
              </a:rPr>
              <a:t>Мякотных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Сергей Михайлович</a:t>
            </a:r>
            <a:endParaRPr dirty="0"/>
          </a:p>
          <a:p>
            <a:pPr algn="r">
              <a:defRPr/>
            </a:pPr>
            <a:endParaRPr lang="ru-RU" dirty="0">
              <a:latin typeface="Times New Roman"/>
              <a:ea typeface="Verdana"/>
              <a:cs typeface="Times New Roman"/>
            </a:endParaRPr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Руководитель:</a:t>
            </a:r>
            <a:endParaRPr dirty="0"/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к. </a:t>
            </a:r>
            <a:r>
              <a:rPr lang="ru-RU" dirty="0" err="1">
                <a:latin typeface="Times New Roman"/>
                <a:ea typeface="Verdana"/>
                <a:cs typeface="Times New Roman"/>
              </a:rPr>
              <a:t>пед</a:t>
            </a:r>
            <a:r>
              <a:rPr lang="ru-RU" dirty="0">
                <a:latin typeface="Times New Roman"/>
                <a:ea typeface="Verdana"/>
                <a:cs typeface="Times New Roman"/>
              </a:rPr>
              <a:t>. н, доцент, доцент кафедры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ИП</a:t>
            </a:r>
          </a:p>
          <a:p>
            <a:pPr algn="r">
              <a:defRPr/>
            </a:pPr>
            <a:r>
              <a:rPr lang="ru-RU" dirty="0" smtClean="0">
                <a:latin typeface="Times New Roman"/>
                <a:ea typeface="Verdana"/>
                <a:cs typeface="Times New Roman"/>
              </a:rPr>
              <a:t>Громов Евгений Владимирович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DIN Pro Medium"/>
        <a:ea typeface="Arial"/>
        <a:cs typeface="Arial"/>
      </a:majorFont>
      <a:minorFont>
        <a:latin typeface="DIN Pro Regular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</a:spPr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832</TotalTime>
  <Words>367</Words>
  <Application>Microsoft Office PowerPoint</Application>
  <DocSecurity>0</DocSecurity>
  <PresentationFormat>Широкоэкранный</PresentationFormat>
  <Paragraphs>57</Paragraphs>
  <Slides>22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1" baseType="lpstr">
      <vt:lpstr>Times New Roman</vt:lpstr>
      <vt:lpstr>Arial</vt:lpstr>
      <vt:lpstr>Calibri</vt:lpstr>
      <vt:lpstr>Wingdings</vt:lpstr>
      <vt:lpstr>DIN Pro Regular</vt:lpstr>
      <vt:lpstr>Verdana</vt:lpstr>
      <vt:lpstr>DIN Pro Medium</vt:lpstr>
      <vt:lpstr>1_Theme1</vt:lpstr>
      <vt:lpstr>oleObj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HP</dc:creator>
  <cp:keywords/>
  <dc:description/>
  <cp:lastModifiedBy>RePack by Diakov</cp:lastModifiedBy>
  <cp:revision>990</cp:revision>
  <dcterms:created xsi:type="dcterms:W3CDTF">2021-05-24T15:42:45Z</dcterms:created>
  <dcterms:modified xsi:type="dcterms:W3CDTF">2026-04-16T10:22:01Z</dcterms:modified>
  <cp:category/>
  <dc:identifier/>
  <cp:contentStatus/>
  <dc:language/>
  <cp:version/>
</cp:coreProperties>
</file>