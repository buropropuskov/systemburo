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75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80" r:id="rId16"/>
    <p:sldId id="269" r:id="rId17"/>
    <p:sldId id="270" r:id="rId18"/>
    <p:sldId id="276" r:id="rId19"/>
    <p:sldId id="277" r:id="rId20"/>
    <p:sldId id="278" r:id="rId21"/>
    <p:sldId id="271" r:id="rId22"/>
    <p:sldId id="272" r:id="rId23"/>
    <p:sldId id="281" r:id="rId24"/>
    <p:sldId id="279" r:id="rId25"/>
    <p:sldId id="273" r:id="rId26"/>
    <p:sldId id="274" r:id="rId2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068" y="5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26E9E-6967-B9FF-E830-962BD8597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545EFFF-A45D-C177-3CEB-5E41C9A10C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AE53A21-6482-B596-61AF-B45ECD73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FA2AD-5CA3-4B26-AF16-7E09445E263C}" type="datetimeFigureOut">
              <a:rPr lang="ru-RU" smtClean="0"/>
              <a:t>21.06.2026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D160720-5E2A-ACEF-0AF9-237FAF27E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72BF683-EBE1-D653-ACA9-C211E6ABB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2FA9A-1891-4A12-A67A-C255C37B63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1978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CA3F83-459B-DD31-F889-3BA01745F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A27FAE-A06C-D0F0-B0AA-79E3EE44D2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D920BE4-E312-14A4-0A7A-67A8EDE76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FA2AD-5CA3-4B26-AF16-7E09445E263C}" type="datetimeFigureOut">
              <a:rPr lang="ru-RU" smtClean="0"/>
              <a:t>21.06.2026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AD2CA3-8B59-4E67-0648-C9BE0D67D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03B00FC-5F4D-0248-9CA5-8DF9D091F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2FA9A-1891-4A12-A67A-C255C37B63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3586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78A75E-340F-47CF-9814-83C4CB1BB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70F21F8-2D25-B536-2BC8-228D979CDD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AE106CD-584A-3D65-5BAE-5E4590329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FA2AD-5CA3-4B26-AF16-7E09445E263C}" type="datetimeFigureOut">
              <a:rPr lang="ru-RU" smtClean="0"/>
              <a:t>21.06.2026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8B2DACE-8ECC-8BD7-8CDE-936CE6C8F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ABA0775-04F6-5C0A-18C2-03CA06B68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2FA9A-1891-4A12-A67A-C255C37B63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4870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785E39-94F3-A88B-C841-C822AF0BA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5BC4E96-75CF-9EB0-5159-2C4DFB68CD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F1AF8E7-A52F-B8C8-8F74-EE1E4270AE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FFE3A91-D8C7-32BD-7C13-28FFF8178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FA2AD-5CA3-4B26-AF16-7E09445E263C}" type="datetimeFigureOut">
              <a:rPr lang="ru-RU" smtClean="0"/>
              <a:t>21.06.2026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7D9025C-D4B0-9C8F-A1BD-AB6C1F16D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533D535-D85B-313B-A947-AB5610D55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2FA9A-1891-4A12-A67A-C255C37B63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8426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C0AD8D-5869-C8C8-D0DE-770F2E74C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F47545C-B3D9-E992-0931-589235FD0E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A1247E7-EA56-DABC-5F0E-BD163ED171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A289D21-7261-EB05-CF37-096405A166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7A40EE7-BDC9-97E0-A1A0-7E1B00B280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C44450B-742E-F2D7-F710-EBF57CFBC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FA2AD-5CA3-4B26-AF16-7E09445E263C}" type="datetimeFigureOut">
              <a:rPr lang="ru-RU" smtClean="0"/>
              <a:t>21.06.2026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B8A69FA-E34F-D984-F6FE-0199398F0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D656F5B-6731-483D-499C-FBE646B2D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2FA9A-1891-4A12-A67A-C255C37B63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8438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E09EDD-896C-F1C6-CB97-A7B711CDA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2DB9179-2FC9-BB04-4186-DEE42F80B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FA2AD-5CA3-4B26-AF16-7E09445E263C}" type="datetimeFigureOut">
              <a:rPr lang="ru-RU" smtClean="0"/>
              <a:t>21.06.2026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22AE201-EC33-6343-94C1-ECABFB384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3B7D7FB-AAFD-833F-CB87-36729A81A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2FA9A-1891-4A12-A67A-C255C37B63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0170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485FE05-0882-48CF-862A-4C6763F3C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FA2AD-5CA3-4B26-AF16-7E09445E263C}" type="datetimeFigureOut">
              <a:rPr lang="ru-RU" smtClean="0"/>
              <a:t>21.06.2026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7522C83-B46A-66FE-F0A8-A6503EFA1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477715E-99C9-9511-04A5-62BE6AFA1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2FA9A-1891-4A12-A67A-C255C37B63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5146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E26F95-A9AD-5C7C-BBBD-EA281D800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9570FB4-6323-8B55-24CA-B7A56B5FFC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F69CBB4-F2CB-407C-B8D7-DEBC154C41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DA542F5-5E1C-9485-091C-08AD12BE4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FA2AD-5CA3-4B26-AF16-7E09445E263C}" type="datetimeFigureOut">
              <a:rPr lang="ru-RU" smtClean="0"/>
              <a:t>21.06.2026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1DBC820-073D-FD55-0E66-0801D35ED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DF4E9AF-8652-CB15-B75A-690203D2A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2FA9A-1891-4A12-A67A-C255C37B63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6982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96265C-5F4C-FED7-7EF2-4E09F7EFA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861CBB6-93F9-DD8F-18E7-487D48CA5F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739D6D1-3F99-5642-6183-5601821F61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C63245C-FB82-4378-89A2-A6711D470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FA2AD-5CA3-4B26-AF16-7E09445E263C}" type="datetimeFigureOut">
              <a:rPr lang="ru-RU" smtClean="0"/>
              <a:t>21.06.2026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AE77801-1FA2-6991-5D67-898805BE8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AC40F53-38FE-0754-81A4-05B7AE82E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2FA9A-1891-4A12-A67A-C255C37B63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9795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AD24CE-574B-9AC3-658D-B0C06ADDF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A06D4D6-C066-1C90-9ECC-6A38F48E70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07D0B17-29A8-5C8B-60C8-9DD85A336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FA2AD-5CA3-4B26-AF16-7E09445E263C}" type="datetimeFigureOut">
              <a:rPr lang="ru-RU" smtClean="0"/>
              <a:t>21.06.2026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BF624ED-C0F3-115F-F1CA-9A32BF495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479349F-7A78-5DC4-F731-197590B77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2FA9A-1891-4A12-A67A-C255C37B63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8720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C6CFDAD-3098-9FBB-516C-942D9192D4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8FB4358-0E4E-C760-DB9D-27268FCC01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A6435EB-5905-AC88-A6FF-1D19D9D89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FA2AD-5CA3-4B26-AF16-7E09445E263C}" type="datetimeFigureOut">
              <a:rPr lang="ru-RU" smtClean="0"/>
              <a:t>21.06.2026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A5FC5EE-775A-EA80-6BDA-ED5D748AA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A8C6012-7003-2D3E-92B2-15C51F56A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2FA9A-1891-4A12-A67A-C255C37B63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4680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C33545-03E9-B008-D363-FC82052FA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16AC385-0E49-13B6-BA7A-7E36E8A7AA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457A3B7-FB21-04A4-5B3B-6A283367AC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2FA2AD-5CA3-4B26-AF16-7E09445E263C}" type="datetimeFigureOut">
              <a:rPr lang="ru-RU" smtClean="0"/>
              <a:t>21.06.2026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2DEAC30-6D98-8E19-FDD9-3536F9C97C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3B2A372-A366-0D0E-74BC-9A34E22B7A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82FA9A-1891-4A12-A67A-C255C37B63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234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gif"/><Relationship Id="rId2" Type="http://schemas.openxmlformats.org/officeDocument/2006/relationships/image" Target="../media/image23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15DA2DE-7B2E-2284-D384-89320950D310}"/>
              </a:ext>
            </a:extLst>
          </p:cNvPr>
          <p:cNvSpPr txBox="1"/>
          <p:nvPr/>
        </p:nvSpPr>
        <p:spPr>
          <a:xfrm>
            <a:off x="352769" y="4886325"/>
            <a:ext cx="10993319" cy="163121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ru-RU" sz="5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Система электронной подачи заявок Бюро пропусков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824D3C-B0D0-DB34-9F02-0F9A960CF22C}"/>
              </a:ext>
            </a:extLst>
          </p:cNvPr>
          <p:cNvSpPr txBox="1"/>
          <p:nvPr/>
        </p:nvSpPr>
        <p:spPr>
          <a:xfrm>
            <a:off x="352769" y="3693886"/>
            <a:ext cx="5072222" cy="46166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Мякотных Сергей Михайлович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0F4BE4-3260-9078-64E7-DCF9706FD3D6}"/>
              </a:ext>
            </a:extLst>
          </p:cNvPr>
          <p:cNvSpPr txBox="1"/>
          <p:nvPr/>
        </p:nvSpPr>
        <p:spPr>
          <a:xfrm>
            <a:off x="352769" y="4059272"/>
            <a:ext cx="3733714" cy="40011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ru-RU" sz="2000" i="1" dirty="0">
                <a:solidFill>
                  <a:schemeClr val="bg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Оператор Бюро пропусков</a:t>
            </a:r>
          </a:p>
        </p:txBody>
      </p:sp>
    </p:spTree>
    <p:extLst>
      <p:ext uri="{BB962C8B-B14F-4D97-AF65-F5344CB8AC3E}">
        <p14:creationId xmlns:p14="http://schemas.microsoft.com/office/powerpoint/2010/main" val="2996491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CE302-F9D4-1C4C-1671-26126E0DE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8F27C1C-BC86-8E33-E100-F4EE8AF976EB}"/>
              </a:ext>
            </a:extLst>
          </p:cNvPr>
          <p:cNvSpPr txBox="1"/>
          <p:nvPr/>
        </p:nvSpPr>
        <p:spPr>
          <a:xfrm>
            <a:off x="301969" y="180975"/>
            <a:ext cx="6194081" cy="70788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ru-RU" sz="4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Что за система?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F46831-879D-C4FD-0D0D-C30B1176FB26}"/>
              </a:ext>
            </a:extLst>
          </p:cNvPr>
          <p:cNvSpPr txBox="1"/>
          <p:nvPr/>
        </p:nvSpPr>
        <p:spPr>
          <a:xfrm>
            <a:off x="352768" y="1034605"/>
            <a:ext cx="10226331" cy="83099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Централизованная система приема, обработки, согласования и учета заявок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CC2ABE2-1CB6-310F-7542-875C40B57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768" y="2232454"/>
            <a:ext cx="11023600" cy="4320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136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847F0-3006-2ADB-904E-1E5F3E532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B88B1B7-96B2-763A-3009-898E0C0987CA}"/>
              </a:ext>
            </a:extLst>
          </p:cNvPr>
          <p:cNvSpPr txBox="1"/>
          <p:nvPr/>
        </p:nvSpPr>
        <p:spPr>
          <a:xfrm>
            <a:off x="301969" y="180975"/>
            <a:ext cx="11705881" cy="70788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ru-RU" sz="4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Интеллектуальная собственность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C71140-1C98-425F-7435-66CD43432FB3}"/>
              </a:ext>
            </a:extLst>
          </p:cNvPr>
          <p:cNvSpPr txBox="1"/>
          <p:nvPr/>
        </p:nvSpPr>
        <p:spPr>
          <a:xfrm>
            <a:off x="301969" y="1282700"/>
            <a:ext cx="11322330" cy="193899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Уникальный продукт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После совершения сделки система полностью переходит компании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Разработчик не имеет прав на монетизацию системы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Разработчик имеет право на использование проекта в </a:t>
            </a:r>
            <a:r>
              <a:rPr lang="ru-RU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протфолио</a:t>
            </a:r>
            <a:endParaRPr lang="ru-RU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5971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4727E-FB61-9D6D-4B7C-0BF458B5A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8CA75F7-FABE-C790-481D-B5C60C13A7F3}"/>
              </a:ext>
            </a:extLst>
          </p:cNvPr>
          <p:cNvSpPr txBox="1"/>
          <p:nvPr/>
        </p:nvSpPr>
        <p:spPr>
          <a:xfrm>
            <a:off x="301969" y="180975"/>
            <a:ext cx="10562881" cy="86177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ru-RU" sz="4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Принцип</a:t>
            </a:r>
            <a:r>
              <a:rPr lang="ru-RU" sz="5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работы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06DA055-AAC9-0D49-548F-3A1D06080F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969" y="1298819"/>
            <a:ext cx="11456894" cy="4994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286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8D741-F09A-05B5-4524-317D41C14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CAF2ADE-B4E6-9327-B1FE-533F36B65489}"/>
              </a:ext>
            </a:extLst>
          </p:cNvPr>
          <p:cNvSpPr txBox="1"/>
          <p:nvPr/>
        </p:nvSpPr>
        <p:spPr>
          <a:xfrm>
            <a:off x="301969" y="180975"/>
            <a:ext cx="10562881" cy="70788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ru-RU" sz="4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Архитектура и технологии</a:t>
            </a:r>
            <a:endParaRPr lang="ru-RU" sz="50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770DDE8-365D-92B6-5DD3-BEFD52A5C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00" y="1654458"/>
            <a:ext cx="11684000" cy="491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52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BD20B-D6BA-47F6-2C2A-E21520991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1013D2B-E93C-AF90-94A9-9264477DFFE6}"/>
              </a:ext>
            </a:extLst>
          </p:cNvPr>
          <p:cNvSpPr txBox="1"/>
          <p:nvPr/>
        </p:nvSpPr>
        <p:spPr>
          <a:xfrm>
            <a:off x="301969" y="180975"/>
            <a:ext cx="10562881" cy="70788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ru-RU" sz="4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Авторизация </a:t>
            </a:r>
            <a:r>
              <a:rPr lang="en-US" sz="4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/ </a:t>
            </a:r>
            <a:r>
              <a:rPr lang="ru-RU" sz="4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Вход в систему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F58695F-52DD-A68B-0C02-700CAD7A2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696" y="1123950"/>
            <a:ext cx="9504404" cy="539820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97975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D9D59-C965-E9CA-47CA-0F8EEF1A8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053C297-B4DD-D0BD-F678-1162C8D3A13D}"/>
              </a:ext>
            </a:extLst>
          </p:cNvPr>
          <p:cNvSpPr txBox="1"/>
          <p:nvPr/>
        </p:nvSpPr>
        <p:spPr>
          <a:xfrm>
            <a:off x="301969" y="180975"/>
            <a:ext cx="10562881" cy="70788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ru-RU" sz="4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Навигация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8C493E-4C3F-7ACD-E741-6FAC4D530573}"/>
              </a:ext>
            </a:extLst>
          </p:cNvPr>
          <p:cNvSpPr txBox="1"/>
          <p:nvPr/>
        </p:nvSpPr>
        <p:spPr>
          <a:xfrm>
            <a:off x="206719" y="1273856"/>
            <a:ext cx="5120931" cy="341632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Центр заявок</a:t>
            </a:r>
            <a:r>
              <a:rPr lang="ru-RU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- входящие заявки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Вложения</a:t>
            </a:r>
            <a:r>
              <a:rPr lang="ru-RU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- доступ к вложениям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Новая заявка</a:t>
            </a:r>
            <a:r>
              <a:rPr lang="ru-RU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- подать заявку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Таблицы </a:t>
            </a:r>
            <a:r>
              <a:rPr lang="ru-RU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- все таблицы КПП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Сотрудники </a:t>
            </a:r>
            <a:r>
              <a:rPr lang="ru-RU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- управление сотрудниками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Автомобили</a:t>
            </a:r>
            <a:r>
              <a:rPr lang="ru-RU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- управление автомобилями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Аналитика</a:t>
            </a:r>
            <a:r>
              <a:rPr lang="ru-RU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- статистика, отчёты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Админка</a:t>
            </a:r>
            <a:r>
              <a:rPr lang="ru-RU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- управление системой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Обзор и новости</a:t>
            </a:r>
            <a:r>
              <a:rPr lang="ru-RU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- информация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Личный кабинет</a:t>
            </a:r>
            <a:r>
              <a:rPr lang="ru-RU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- аккаунт</a:t>
            </a:r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E8E6B71-4FDA-A9A6-A1AC-4AD00140F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4308" y="276225"/>
            <a:ext cx="5493758" cy="630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8069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21AD4-5BC5-4209-460E-568783173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362D398-8256-1FCC-7477-5277CFD95F6B}"/>
              </a:ext>
            </a:extLst>
          </p:cNvPr>
          <p:cNvSpPr txBox="1"/>
          <p:nvPr/>
        </p:nvSpPr>
        <p:spPr>
          <a:xfrm>
            <a:off x="301969" y="180975"/>
            <a:ext cx="10562881" cy="70788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ru-RU" sz="4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Шапка (верхняя панель)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51FB87-DDA7-424B-C83E-16EBC1D329BF}"/>
              </a:ext>
            </a:extLst>
          </p:cNvPr>
          <p:cNvSpPr txBox="1"/>
          <p:nvPr/>
        </p:nvSpPr>
        <p:spPr>
          <a:xfrm>
            <a:off x="301968" y="1168400"/>
            <a:ext cx="10562881" cy="203132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Кнопка обратной связи</a:t>
            </a:r>
            <a:r>
              <a:rPr lang="ru-RU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- написать в случае ошибки или предложения по улучшению системы</a:t>
            </a:r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Объявление</a:t>
            </a:r>
            <a:r>
              <a:rPr lang="ru-RU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- важное сообщение для всех пользователей, например: “Проведение технических работ в системе”</a:t>
            </a:r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Информация о текущей дате и времени</a:t>
            </a:r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Уведомления пользователя</a:t>
            </a:r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Создание новой заявки</a:t>
            </a:r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65E830D-A8F4-D923-BCB1-AFEF49C85A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968" y="3729908"/>
            <a:ext cx="11572532" cy="62217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CFC6021-3A78-C21C-0E55-9656402F33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" y="4477640"/>
            <a:ext cx="11572532" cy="540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128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C9F19-FA1A-03CE-232A-7FE035099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79FE2E3-AAC0-E37B-2C74-AFBC6C754291}"/>
              </a:ext>
            </a:extLst>
          </p:cNvPr>
          <p:cNvSpPr txBox="1"/>
          <p:nvPr/>
        </p:nvSpPr>
        <p:spPr>
          <a:xfrm>
            <a:off x="301969" y="180975"/>
            <a:ext cx="10562881" cy="70788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ru-RU" sz="4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Обзор и новости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A7985DA-CD57-793C-8D33-26125E576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969" y="1079501"/>
            <a:ext cx="9591331" cy="5538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5660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0EA56-2695-DE02-B4A8-013476842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72F3645-EFBE-36BB-ABA9-990B63E7F219}"/>
              </a:ext>
            </a:extLst>
          </p:cNvPr>
          <p:cNvSpPr txBox="1"/>
          <p:nvPr/>
        </p:nvSpPr>
        <p:spPr>
          <a:xfrm>
            <a:off x="301969" y="180975"/>
            <a:ext cx="10562881" cy="70788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ru-RU" sz="4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Центр заявок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5126F27-4CD5-2976-AB05-F32F08C449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969" y="1070238"/>
            <a:ext cx="9633055" cy="55528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30691B0-D8EC-A276-E2D4-83D8C7B4C525}"/>
              </a:ext>
            </a:extLst>
          </p:cNvPr>
          <p:cNvSpPr txBox="1"/>
          <p:nvPr/>
        </p:nvSpPr>
        <p:spPr>
          <a:xfrm>
            <a:off x="10007630" y="4903514"/>
            <a:ext cx="2100288" cy="14773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Гибкий поиск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Фильтры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Сортировка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Теги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Скачивание</a:t>
            </a: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15C94C76-FA75-08BF-2B3E-BF21DD27B200}"/>
              </a:ext>
            </a:extLst>
          </p:cNvPr>
          <p:cNvCxnSpPr>
            <a:cxnSpLocks/>
          </p:cNvCxnSpPr>
          <p:nvPr/>
        </p:nvCxnSpPr>
        <p:spPr>
          <a:xfrm>
            <a:off x="10109200" y="4717143"/>
            <a:ext cx="18796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33669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03553-93DC-4F5F-5054-9089D1476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C3854D9-83B7-66FD-CE8B-590889739884}"/>
              </a:ext>
            </a:extLst>
          </p:cNvPr>
          <p:cNvSpPr txBox="1"/>
          <p:nvPr/>
        </p:nvSpPr>
        <p:spPr>
          <a:xfrm>
            <a:off x="301969" y="180975"/>
            <a:ext cx="10562881" cy="70788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ru-RU" sz="4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Просмотр заявки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01E1B19-288B-D31A-1641-A030A6FE8D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969" y="1084805"/>
            <a:ext cx="10126545" cy="5534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3713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8E824-EF73-4E3A-2AAA-F041B26FB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2706E80-E794-B16E-D9A2-C17C0AD2D123}"/>
              </a:ext>
            </a:extLst>
          </p:cNvPr>
          <p:cNvSpPr txBox="1"/>
          <p:nvPr/>
        </p:nvSpPr>
        <p:spPr>
          <a:xfrm>
            <a:off x="301969" y="180975"/>
            <a:ext cx="10562881" cy="70788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ru-RU" sz="4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Оформление и подача заявки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EF54DE1-06B6-24FE-CCC8-5363A12A04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761" y="1040524"/>
            <a:ext cx="9773998" cy="5590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3052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3DCD4-CD99-1CF1-0B7D-02C78B5DB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2364F6D-C8D3-7517-890F-EC330BCB7A88}"/>
              </a:ext>
            </a:extLst>
          </p:cNvPr>
          <p:cNvSpPr txBox="1"/>
          <p:nvPr/>
        </p:nvSpPr>
        <p:spPr>
          <a:xfrm>
            <a:off x="301969" y="180975"/>
            <a:ext cx="10562881" cy="70788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ru-RU" sz="4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Таблицы системы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274305-7FE8-2F40-5B26-945B86C27F1E}"/>
              </a:ext>
            </a:extLst>
          </p:cNvPr>
          <p:cNvSpPr txBox="1"/>
          <p:nvPr/>
        </p:nvSpPr>
        <p:spPr>
          <a:xfrm>
            <a:off x="301969" y="1037772"/>
            <a:ext cx="10493828" cy="64633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 системе существуют </a:t>
            </a:r>
            <a:r>
              <a:rPr lang="ru-RU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таблицы</a:t>
            </a: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– вкладки с данными, которые привязаны к </a:t>
            </a:r>
            <a:r>
              <a:rPr lang="ru-RU" u="sng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посту охраны</a:t>
            </a: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и содержат информацию о пропусках на людей и машины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5A7472-71E0-7239-D0CB-366536C5C593}"/>
              </a:ext>
            </a:extLst>
          </p:cNvPr>
          <p:cNvSpPr txBox="1"/>
          <p:nvPr/>
        </p:nvSpPr>
        <p:spPr>
          <a:xfrm>
            <a:off x="301969" y="1833014"/>
            <a:ext cx="11454602" cy="64633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Каждый охранник имеет </a:t>
            </a:r>
            <a:r>
              <a:rPr lang="ru-RU" u="sng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доступ</a:t>
            </a: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к определенным таблицам и ведет контрольно-пропускную деятельность, основываясь на данных в таблице.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420E97-99E5-5834-B998-BDAA5877C025}"/>
              </a:ext>
            </a:extLst>
          </p:cNvPr>
          <p:cNvSpPr txBox="1"/>
          <p:nvPr/>
        </p:nvSpPr>
        <p:spPr>
          <a:xfrm>
            <a:off x="301969" y="2628256"/>
            <a:ext cx="11454602" cy="258532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Сейчас существуют </a:t>
            </a:r>
            <a:r>
              <a:rPr lang="ru-RU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следующие посты</a:t>
            </a: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имеющие оборудование для работы с системой:</a:t>
            </a:r>
          </a:p>
          <a:p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КПП №4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ПОСТ СЕВЕР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ПОСТ №72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ПОСТ №21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ПОСТ №27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Dream Beach Club</a:t>
            </a:r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КИНО-КОНЦЕРТНЫЙ ЗАЛ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55A76A-5ABA-BD1E-938C-591E31361B4B}"/>
              </a:ext>
            </a:extLst>
          </p:cNvPr>
          <p:cNvSpPr txBox="1"/>
          <p:nvPr/>
        </p:nvSpPr>
        <p:spPr>
          <a:xfrm>
            <a:off x="301969" y="5435062"/>
            <a:ext cx="11454602" cy="64633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 каждой таблице можно открыть привязанную к сотруднику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/</a:t>
            </a: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машине заявку для ознакомления.</a:t>
            </a:r>
          </a:p>
        </p:txBody>
      </p:sp>
    </p:spTree>
    <p:extLst>
      <p:ext uri="{BB962C8B-B14F-4D97-AF65-F5344CB8AC3E}">
        <p14:creationId xmlns:p14="http://schemas.microsoft.com/office/powerpoint/2010/main" val="12396706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0573F-6B78-1C8B-FFF3-7E390EC0A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5367605-2689-875D-13AB-49AB77CD304D}"/>
              </a:ext>
            </a:extLst>
          </p:cNvPr>
          <p:cNvSpPr txBox="1"/>
          <p:nvPr/>
        </p:nvSpPr>
        <p:spPr>
          <a:xfrm>
            <a:off x="301969" y="180975"/>
            <a:ext cx="10562881" cy="70788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ru-RU" sz="4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Таблица (авто)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BFE90C1-A81C-265C-1ED8-548B9A6F46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294" y="1022350"/>
            <a:ext cx="9790956" cy="5577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0856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F37CD-DB94-61F4-A131-13B287BEE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CF81706-BEF6-0CC9-C3D1-E107796A35C1}"/>
              </a:ext>
            </a:extLst>
          </p:cNvPr>
          <p:cNvSpPr txBox="1"/>
          <p:nvPr/>
        </p:nvSpPr>
        <p:spPr>
          <a:xfrm>
            <a:off x="301969" y="180975"/>
            <a:ext cx="10562881" cy="70788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ru-RU" sz="4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Таблица (люди)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4013B0F-255C-0D24-0814-4E5BB17B36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809" y="1073150"/>
            <a:ext cx="9658791" cy="5513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0965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5E4CF-D2A5-F3CC-2E53-E6ABCA80D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B22FB48-8A93-8FB9-7591-3276EE34518D}"/>
              </a:ext>
            </a:extLst>
          </p:cNvPr>
          <p:cNvSpPr txBox="1"/>
          <p:nvPr/>
        </p:nvSpPr>
        <p:spPr>
          <a:xfrm>
            <a:off x="301969" y="180975"/>
            <a:ext cx="10562881" cy="70788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ru-RU" sz="4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Личный кабинет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6EA6BD0-9325-F9C4-826D-F90B0C7B86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969" y="1029882"/>
            <a:ext cx="9836260" cy="5704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0430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6BAD3-8D07-7F0C-8049-854578ECA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12D9294-95B2-93BB-9403-DA386CE08880}"/>
              </a:ext>
            </a:extLst>
          </p:cNvPr>
          <p:cNvSpPr txBox="1"/>
          <p:nvPr/>
        </p:nvSpPr>
        <p:spPr>
          <a:xfrm>
            <a:off x="301969" y="180975"/>
            <a:ext cx="10562881" cy="70788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ru-RU" sz="40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Онбординг</a:t>
            </a:r>
            <a:r>
              <a:rPr lang="ru-RU" sz="4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и обучение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D3C3F89-468F-F350-971C-4861B8447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309" y="1074057"/>
            <a:ext cx="9689348" cy="554837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BD5985A-A197-5DBD-439F-712534B2B5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9882" y="3730171"/>
            <a:ext cx="4162633" cy="2382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4401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93495-906D-66A5-627D-CA685281D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70B0C74-E0EB-0D92-0D1C-97B07B956344}"/>
              </a:ext>
            </a:extLst>
          </p:cNvPr>
          <p:cNvSpPr txBox="1"/>
          <p:nvPr/>
        </p:nvSpPr>
        <p:spPr>
          <a:xfrm>
            <a:off x="301969" y="180975"/>
            <a:ext cx="10562881" cy="70788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ru-RU" sz="4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Безопасность системы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3F1BFD-A014-92F3-6C25-73D712912903}"/>
              </a:ext>
            </a:extLst>
          </p:cNvPr>
          <p:cNvSpPr txBox="1"/>
          <p:nvPr/>
        </p:nvSpPr>
        <p:spPr>
          <a:xfrm>
            <a:off x="362608" y="1156138"/>
            <a:ext cx="1814920" cy="36933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Надежность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5339D2-E034-228B-5C98-E9886135DD3A}"/>
              </a:ext>
            </a:extLst>
          </p:cNvPr>
          <p:cNvSpPr txBox="1"/>
          <p:nvPr/>
        </p:nvSpPr>
        <p:spPr>
          <a:xfrm>
            <a:off x="362608" y="1839310"/>
            <a:ext cx="7945637" cy="213904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Пароли: 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Argon2id</a:t>
            </a: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блокировка перебора, авто-выход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Токены доступа с ротацией и обнаружением кражи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Защита от 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SQL</a:t>
            </a: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-инъекций, 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XSS, CSRF</a:t>
            </a: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на уровне кода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Разграничение прав: роли, группы, точечные разрешения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HTTPS, CSP, security-</a:t>
            </a: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заголовки, запуск без 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root </a:t>
            </a: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 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Docker</a:t>
            </a:r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Авто-сканеры уязвимостей в 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CI: </a:t>
            </a:r>
            <a:r>
              <a:rPr lang="en-US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govulncheck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Trivy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npm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audit</a:t>
            </a:r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F3216223-F2CF-E1F7-7E01-F7E131D28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463" y="4166773"/>
            <a:ext cx="9273587" cy="2466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2391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EC8B5-92AA-093A-1D92-EFE0D0931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7D2A170-079B-9D21-A635-B3DCA3F73168}"/>
              </a:ext>
            </a:extLst>
          </p:cNvPr>
          <p:cNvSpPr txBox="1"/>
          <p:nvPr/>
        </p:nvSpPr>
        <p:spPr>
          <a:xfrm>
            <a:off x="301969" y="180975"/>
            <a:ext cx="10562881" cy="70788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ru-RU" sz="4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Соответствие 152-ФЗ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B4906C6-725E-48D2-8F98-6A28C2B0C0FF}"/>
              </a:ext>
            </a:extLst>
          </p:cNvPr>
          <p:cNvSpPr txBox="1"/>
          <p:nvPr/>
        </p:nvSpPr>
        <p:spPr>
          <a:xfrm>
            <a:off x="357229" y="1333701"/>
            <a:ext cx="9813905" cy="178510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Шифрование персональных данных в БД 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(AES-256-GCM)</a:t>
            </a: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паспорта, патенты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Журнал согласий на обработку </a:t>
            </a:r>
            <a:r>
              <a:rPr lang="ru-RU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ПДн</a:t>
            </a: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выдача и отзыв с фиксацией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Аудит доступа к </a:t>
            </a:r>
            <a:r>
              <a:rPr lang="ru-RU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ПДн</a:t>
            </a: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кто, когда и к каким данным обращался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История изменения ключевых сущностей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Минимизация и разграничение доступа к </a:t>
            </a:r>
            <a:r>
              <a:rPr lang="ru-RU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ПДн</a:t>
            </a:r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41722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0A39B-C1C0-1FEA-0FDF-EC4A94665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54DFD71-96B7-EAB8-A69E-2E02D1959AA0}"/>
              </a:ext>
            </a:extLst>
          </p:cNvPr>
          <p:cNvSpPr txBox="1"/>
          <p:nvPr/>
        </p:nvSpPr>
        <p:spPr>
          <a:xfrm>
            <a:off x="301969" y="180975"/>
            <a:ext cx="10562881" cy="70788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ru-RU" sz="4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Тестирование и качество кода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5871B66-7A9B-536F-E986-6EFEC238D6B0}"/>
              </a:ext>
            </a:extLst>
          </p:cNvPr>
          <p:cNvSpPr txBox="1"/>
          <p:nvPr/>
        </p:nvSpPr>
        <p:spPr>
          <a:xfrm>
            <a:off x="346471" y="1204823"/>
            <a:ext cx="9437199" cy="213904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Автотесты</a:t>
            </a: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на трёх уровнях: модульные, интеграционные, сквозные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666 тестов бэкенда – против реальной БД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673 теста фронтенда + 41 сквозной сценарий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Каждое изменение проходит 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CI</a:t>
            </a: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линт, тесты, сборка, сканы безопасности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5 авто-</a:t>
            </a:r>
            <a:r>
              <a:rPr lang="ru-RU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пайплайнов</a:t>
            </a: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E2E</a:t>
            </a: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в 4 параллельных потока</a:t>
            </a:r>
            <a:endParaRPr lang="en-US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Автоматический деплой: 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staging </a:t>
            </a: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и (в будущем) 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production</a:t>
            </a:r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FC5DA1D-89E4-A8F9-06AE-CC75793187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62" y="3698062"/>
            <a:ext cx="9185160" cy="2870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6283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47433-4779-5A80-D3A4-5982E39B1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607F23-6367-0666-BE2D-F942BAE0158D}"/>
              </a:ext>
            </a:extLst>
          </p:cNvPr>
          <p:cNvSpPr txBox="1"/>
          <p:nvPr/>
        </p:nvSpPr>
        <p:spPr>
          <a:xfrm>
            <a:off x="301969" y="180975"/>
            <a:ext cx="10562881" cy="70788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ru-RU" sz="4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Пользовательская документация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4C275B-08CD-6572-DB76-F62F19D06114}"/>
              </a:ext>
            </a:extLst>
          </p:cNvPr>
          <p:cNvSpPr txBox="1"/>
          <p:nvPr/>
        </p:nvSpPr>
        <p:spPr>
          <a:xfrm>
            <a:off x="301969" y="1190171"/>
            <a:ext cx="6506909" cy="36933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Была разработана пользовательская документация: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FA26A2-5940-A085-F8E8-CC6D9A85B231}"/>
              </a:ext>
            </a:extLst>
          </p:cNvPr>
          <p:cNvSpPr txBox="1"/>
          <p:nvPr/>
        </p:nvSpPr>
        <p:spPr>
          <a:xfrm>
            <a:off x="301969" y="1726671"/>
            <a:ext cx="4993675" cy="46166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ru-RU" sz="2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Руководство пользователя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E93EF6-7CC1-A126-B2F2-BF883D93DC86}"/>
              </a:ext>
            </a:extLst>
          </p:cNvPr>
          <p:cNvSpPr txBox="1"/>
          <p:nvPr/>
        </p:nvSpPr>
        <p:spPr>
          <a:xfrm>
            <a:off x="301969" y="2207652"/>
            <a:ext cx="11636031" cy="64633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Описание базового функционала системы с разбором процесса подачи электронной заявки, управлением и отслеживанием её статуса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BC701F-D6B4-4116-3ACE-339F82C3D90D}"/>
              </a:ext>
            </a:extLst>
          </p:cNvPr>
          <p:cNvSpPr txBox="1"/>
          <p:nvPr/>
        </p:nvSpPr>
        <p:spPr>
          <a:xfrm>
            <a:off x="301969" y="3047037"/>
            <a:ext cx="5440913" cy="46166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ru-RU" sz="2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Руководство администратора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354DB5-59C8-CFF2-0215-6F1B45BED7ED}"/>
              </a:ext>
            </a:extLst>
          </p:cNvPr>
          <p:cNvSpPr txBox="1"/>
          <p:nvPr/>
        </p:nvSpPr>
        <p:spPr>
          <a:xfrm>
            <a:off x="301969" y="3528018"/>
            <a:ext cx="11636031" cy="36933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Описание функционала настройки и управления системой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EBAAF2-B62D-E8F9-343D-1C2C60755421}"/>
              </a:ext>
            </a:extLst>
          </p:cNvPr>
          <p:cNvSpPr txBox="1"/>
          <p:nvPr/>
        </p:nvSpPr>
        <p:spPr>
          <a:xfrm>
            <a:off x="301969" y="4058569"/>
            <a:ext cx="5113900" cy="46166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ru-RU" sz="2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Техническая документация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B4AC93-BDD6-5CD6-0F30-2000C885E5D5}"/>
              </a:ext>
            </a:extLst>
          </p:cNvPr>
          <p:cNvSpPr txBox="1"/>
          <p:nvPr/>
        </p:nvSpPr>
        <p:spPr>
          <a:xfrm>
            <a:off x="301969" y="4539550"/>
            <a:ext cx="11636031" cy="36933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Инструкция по развертыванию и сопровождению приложения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DFC0C9-BF68-AF18-70B9-4699EBCDB9D4}"/>
              </a:ext>
            </a:extLst>
          </p:cNvPr>
          <p:cNvSpPr txBox="1"/>
          <p:nvPr/>
        </p:nvSpPr>
        <p:spPr>
          <a:xfrm>
            <a:off x="301969" y="5070101"/>
            <a:ext cx="3509294" cy="46166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ru-RU" sz="2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Документация </a:t>
            </a:r>
            <a:r>
              <a:rPr lang="en-US" sz="2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API</a:t>
            </a:r>
            <a:endParaRPr lang="ru-RU" sz="24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C93141-7E25-9B2F-2334-07369DD8E048}"/>
              </a:ext>
            </a:extLst>
          </p:cNvPr>
          <p:cNvSpPr txBox="1"/>
          <p:nvPr/>
        </p:nvSpPr>
        <p:spPr>
          <a:xfrm>
            <a:off x="301969" y="5551082"/>
            <a:ext cx="11636031" cy="36933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Swagger,</a:t>
            </a: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195 методов – живая, внутри системы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C915B771-37C2-CACE-6828-3BE8D4A1C7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0897" y="2777508"/>
            <a:ext cx="3417103" cy="3899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3143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765D4-4D01-8940-BDD3-4F080819C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58985FC-5B9C-3781-28E7-F57BF80200FB}"/>
              </a:ext>
            </a:extLst>
          </p:cNvPr>
          <p:cNvSpPr txBox="1"/>
          <p:nvPr/>
        </p:nvSpPr>
        <p:spPr>
          <a:xfrm>
            <a:off x="301969" y="180975"/>
            <a:ext cx="10562881" cy="70788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ru-RU" sz="4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Что нужно для запуска, план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81FE61-FE06-2657-EED5-461A0D87FE11}"/>
              </a:ext>
            </a:extLst>
          </p:cNvPr>
          <p:cNvSpPr txBox="1"/>
          <p:nvPr/>
        </p:nvSpPr>
        <p:spPr>
          <a:xfrm>
            <a:off x="301969" y="1190171"/>
            <a:ext cx="2696572" cy="36933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Сервер на </a:t>
            </a:r>
            <a:r>
              <a:rPr lang="en-US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Selectel</a:t>
            </a:r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D6D6437-7B50-EEB7-9945-4C3C2E19B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371" y="1860813"/>
            <a:ext cx="7561943" cy="77615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0797D01-328E-9E17-CCC3-82D215DF30B9}"/>
              </a:ext>
            </a:extLst>
          </p:cNvPr>
          <p:cNvSpPr txBox="1"/>
          <p:nvPr/>
        </p:nvSpPr>
        <p:spPr>
          <a:xfrm>
            <a:off x="377371" y="2912623"/>
            <a:ext cx="11553372" cy="36933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Какие заявки, организации / лица были выбраны для тестирования:</a:t>
            </a:r>
            <a:endParaRPr lang="ru-RU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7C512C-A56F-F8A9-00AA-631A55904C1A}"/>
              </a:ext>
            </a:extLst>
          </p:cNvPr>
          <p:cNvSpPr txBox="1"/>
          <p:nvPr/>
        </p:nvSpPr>
        <p:spPr>
          <a:xfrm>
            <a:off x="301969" y="3622211"/>
            <a:ext cx="11628774" cy="286232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b="1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ООО </a:t>
            </a:r>
            <a:r>
              <a:rPr lang="ru-RU" b="1" dirty="0" err="1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Дримфудс</a:t>
            </a:r>
            <a:r>
              <a:rPr lang="ru-RU" b="1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- частые </a:t>
            </a:r>
            <a:r>
              <a:rPr lang="ru-RU" dirty="0" err="1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автозаявки</a:t>
            </a:r>
            <a:r>
              <a:rPr lang="ru-RU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, заявки на проход людей, постоянное место разгрузки и прохода (21 пост + Дебаркадер №5).</a:t>
            </a:r>
          </a:p>
          <a:p>
            <a:pPr marL="342900" indent="-342900">
              <a:buFont typeface="+mj-lt"/>
              <a:buAutoNum type="arabicPeriod"/>
            </a:pPr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Ответственные </a:t>
            </a:r>
            <a:r>
              <a:rPr lang="ru-RU" b="1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арендаторы</a:t>
            </a:r>
            <a:r>
              <a:rPr lang="ru-RU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(предположительно): Села, </a:t>
            </a:r>
            <a:r>
              <a:rPr lang="ru-RU" dirty="0" err="1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БиФри</a:t>
            </a:r>
            <a:r>
              <a:rPr lang="ru-RU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, Гиро-</a:t>
            </a:r>
            <a:r>
              <a:rPr lang="ru-RU" dirty="0" err="1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гирос</a:t>
            </a:r>
            <a:r>
              <a:rPr lang="ru-RU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, Котофей, Мята/Батони, Траттория, </a:t>
            </a:r>
            <a:r>
              <a:rPr lang="ru-RU" dirty="0" err="1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Мегобари</a:t>
            </a:r>
            <a:r>
              <a:rPr lang="ru-RU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, Ростикс. Согласование отделом аренды.</a:t>
            </a:r>
          </a:p>
          <a:p>
            <a:pPr marL="342900" indent="-342900">
              <a:buFont typeface="+mj-lt"/>
              <a:buAutoNum type="arabicPeriod"/>
            </a:pPr>
            <a:endParaRPr lang="ru-RU" dirty="0">
              <a:solidFill>
                <a:schemeClr val="bg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3. </a:t>
            </a:r>
            <a:r>
              <a:rPr lang="ru-RU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Заявки на </a:t>
            </a:r>
            <a:r>
              <a:rPr lang="ru-RU" b="1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бесплатную парковку</a:t>
            </a:r>
            <a:r>
              <a:rPr lang="ru-RU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. Обработка РПС.</a:t>
            </a:r>
          </a:p>
          <a:p>
            <a:endParaRPr lang="ru-RU" dirty="0">
              <a:solidFill>
                <a:schemeClr val="bg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4. </a:t>
            </a:r>
            <a:r>
              <a:rPr lang="ru-RU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Подрядчики (не на стройку). Чижин Д., Щербина М., Мелёхин П. часто оформляют заявки на подрядчиков.</a:t>
            </a:r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67588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A4383-9100-75B0-60F0-60A107F4E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3800C1C-531D-232A-EBC8-91B221A31833}"/>
              </a:ext>
            </a:extLst>
          </p:cNvPr>
          <p:cNvSpPr txBox="1"/>
          <p:nvPr/>
        </p:nvSpPr>
        <p:spPr>
          <a:xfrm>
            <a:off x="301969" y="180975"/>
            <a:ext cx="10562881" cy="70788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ru-RU" sz="4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Конфигурация сервера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79E1D6-91C0-E11B-B486-1D385C3F0801}"/>
              </a:ext>
            </a:extLst>
          </p:cNvPr>
          <p:cNvSpPr txBox="1"/>
          <p:nvPr/>
        </p:nvSpPr>
        <p:spPr>
          <a:xfrm>
            <a:off x="301969" y="1177931"/>
            <a:ext cx="10392763" cy="64633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Подобранная конфигурация способна выдерживать порядка 1000-2000 человек одновременно, при целевом значении 50-100 человек.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6ED50E2-F397-28E5-67B8-3218DA76AC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514" y="2031189"/>
            <a:ext cx="11234057" cy="4408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5411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F659A-BB81-0642-02CC-6CB9B9659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8F48A62-4874-080B-6554-D021E63B8B70}"/>
              </a:ext>
            </a:extLst>
          </p:cNvPr>
          <p:cNvSpPr txBox="1"/>
          <p:nvPr/>
        </p:nvSpPr>
        <p:spPr>
          <a:xfrm>
            <a:off x="301969" y="180975"/>
            <a:ext cx="10562881" cy="70788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ru-RU" sz="4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Что получает компания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7A6F9E-9052-8E99-73EA-34FFEA7C5C9B}"/>
              </a:ext>
            </a:extLst>
          </p:cNvPr>
          <p:cNvSpPr txBox="1"/>
          <p:nvPr/>
        </p:nvSpPr>
        <p:spPr>
          <a:xfrm>
            <a:off x="249418" y="1674674"/>
            <a:ext cx="6255239" cy="252376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Полные исходные коды: бэкенд + фронтенд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Рабочая система на сервере </a:t>
            </a:r>
            <a:r>
              <a:rPr lang="en-US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Selectel</a:t>
            </a:r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Пользовательская документация к проекту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Документация 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API</a:t>
            </a: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и архитектурные решения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Полная передача прав на продукт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Настроенный 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CI/CD </a:t>
            </a: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и сопровождение на старте</a:t>
            </a:r>
          </a:p>
        </p:txBody>
      </p:sp>
    </p:spTree>
    <p:extLst>
      <p:ext uri="{BB962C8B-B14F-4D97-AF65-F5344CB8AC3E}">
        <p14:creationId xmlns:p14="http://schemas.microsoft.com/office/powerpoint/2010/main" val="28370201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29FCF-5C52-3210-0192-AD1F9B15A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Объект 10">
            <a:extLst>
              <a:ext uri="{FF2B5EF4-FFF2-40B4-BE49-F238E27FC236}">
                <a16:creationId xmlns:a16="http://schemas.microsoft.com/office/drawing/2014/main" id="{A7DBA9D3-C75A-2D21-7BF3-FCF9AE603B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245" y="3429000"/>
            <a:ext cx="2839842" cy="2809875"/>
          </a:xfrm>
          <a:prstGeom prst="roundRect">
            <a:avLst/>
          </a:prstGeom>
          <a:ln>
            <a:solidFill>
              <a:schemeClr val="tx1"/>
            </a:solidFill>
            <a:prstDash val="sysDot"/>
          </a:ln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59C9C0F-1475-D391-11A4-C661EFA4E7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2685" y="3175000"/>
            <a:ext cx="3001963" cy="300196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B07CA4-8C10-C18D-5689-5FF09C988D59}"/>
              </a:ext>
            </a:extLst>
          </p:cNvPr>
          <p:cNvSpPr txBox="1"/>
          <p:nvPr/>
        </p:nvSpPr>
        <p:spPr>
          <a:xfrm>
            <a:off x="7254648" y="3633608"/>
            <a:ext cx="4659538" cy="120032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Разработка с нуля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Рассмотренные аналоги от 1.5 млн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Готовый, протестированный, задокументированный продукт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8C84C7B-E71A-3A71-75B1-5CBA878DFE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751" y="374752"/>
            <a:ext cx="7410450" cy="2740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8966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F639C-7DFC-1058-C0E1-C07F2D2D1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6656596-E39D-6D6D-0445-C05224AF45B7}"/>
              </a:ext>
            </a:extLst>
          </p:cNvPr>
          <p:cNvSpPr txBox="1"/>
          <p:nvPr/>
        </p:nvSpPr>
        <p:spPr>
          <a:xfrm>
            <a:off x="1205879" y="2617576"/>
            <a:ext cx="9780241" cy="101566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ru-RU" sz="6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97126320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1304</TotalTime>
  <Words>668</Words>
  <Application>Microsoft Office PowerPoint</Application>
  <PresentationFormat>Широкоэкранный</PresentationFormat>
  <Paragraphs>111</Paragraphs>
  <Slides>26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31" baseType="lpstr">
      <vt:lpstr>Aptos</vt:lpstr>
      <vt:lpstr>Aptos Display</vt:lpstr>
      <vt:lpstr>Arial</vt:lpstr>
      <vt:lpstr>Verdana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Сергей Мельников</dc:creator>
  <cp:lastModifiedBy>Сергей Мельников</cp:lastModifiedBy>
  <cp:revision>7</cp:revision>
  <dcterms:created xsi:type="dcterms:W3CDTF">2026-06-20T10:29:08Z</dcterms:created>
  <dcterms:modified xsi:type="dcterms:W3CDTF">2026-06-21T14:37:37Z</dcterms:modified>
</cp:coreProperties>
</file>