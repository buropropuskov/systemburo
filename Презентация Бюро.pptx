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068" y="5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126E9E-6967-B9FF-E830-962BD8597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545EFFF-A45D-C177-3CEB-5E41C9A10C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E53A21-6482-B596-61AF-B45ECD732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D160720-5E2A-ACEF-0AF9-237FAF27E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2BF683-EBE1-D653-ACA9-C211E6ABB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1978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CA3F83-459B-DD31-F889-3BA01745F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A27FAE-A06C-D0F0-B0AA-79E3EE44D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D920BE4-E312-14A4-0A7A-67A8EDE76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AD2CA3-8B59-4E67-0648-C9BE0D67D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3B00FC-5F4D-0248-9CA5-8DF9D091F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3586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78A75E-340F-47CF-9814-83C4CB1BB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70F21F8-2D25-B536-2BC8-228D979CDD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AE106CD-584A-3D65-5BAE-5E4590329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8B2DACE-8ECC-8BD7-8CDE-936CE6C8F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ABA0775-04F6-5C0A-18C2-03CA06B68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870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785E39-94F3-A88B-C841-C822AF0BA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5BC4E96-75CF-9EB0-5159-2C4DFB68C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F1AF8E7-A52F-B8C8-8F74-EE1E4270AE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FFE3A91-D8C7-32BD-7C13-28FFF8178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7D9025C-D4B0-9C8F-A1BD-AB6C1F16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533D535-D85B-313B-A947-AB5610D55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426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C0AD8D-5869-C8C8-D0DE-770F2E74C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F47545C-B3D9-E992-0931-589235FD0E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A1247E7-EA56-DABC-5F0E-BD163ED171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A289D21-7261-EB05-CF37-096405A166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7A40EE7-BDC9-97E0-A1A0-7E1B00B280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C44450B-742E-F2D7-F710-EBF57CFBC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B8A69FA-E34F-D984-F6FE-0199398F0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D656F5B-6731-483D-499C-FBE646B2D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8438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E09EDD-896C-F1C6-CB97-A7B711CDA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2DB9179-2FC9-BB04-4186-DEE42F80B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22AE201-EC33-6343-94C1-ECABFB384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3B7D7FB-AAFD-833F-CB87-36729A81A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0170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485FE05-0882-48CF-862A-4C6763F3C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7522C83-B46A-66FE-F0A8-A6503EFA1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477715E-99C9-9511-04A5-62BE6AFA1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5146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E26F95-A9AD-5C7C-BBBD-EA281D800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9570FB4-6323-8B55-24CA-B7A56B5FFC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69CBB4-F2CB-407C-B8D7-DEBC154C41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DA542F5-5E1C-9485-091C-08AD12BE4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DBC820-073D-FD55-0E66-0801D35ED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DF4E9AF-8652-CB15-B75A-690203D2A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6982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96265C-5F4C-FED7-7EF2-4E09F7EFA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861CBB6-93F9-DD8F-18E7-487D48CA5F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739D6D1-3F99-5642-6183-5601821F61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C63245C-FB82-4378-89A2-A6711D470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E77801-1FA2-6991-5D67-898805BE8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AC40F53-38FE-0754-81A4-05B7AE82E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9795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AD24CE-574B-9AC3-658D-B0C06ADDF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A06D4D6-C066-1C90-9ECC-6A38F48E70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7D0B17-29A8-5C8B-60C8-9DD85A33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F624ED-C0F3-115F-F1CA-9A32BF495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479349F-7A78-5DC4-F731-197590B77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872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C6CFDAD-3098-9FBB-516C-942D9192D4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8FB4358-0E4E-C760-DB9D-27268FCC01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6435EB-5905-AC88-A6FF-1D19D9D89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5FC5EE-775A-EA80-6BDA-ED5D748A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A8C6012-7003-2D3E-92B2-15C51F56A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4680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C33545-03E9-B008-D363-FC82052FA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16AC385-0E49-13B6-BA7A-7E36E8A7AA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57A3B7-FB21-04A4-5B3B-6A283367AC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2FA2AD-5CA3-4B26-AF16-7E09445E263C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2DEAC30-6D98-8E19-FDD9-3536F9C97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B2A372-A366-0D0E-74BC-9A34E22B7A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82FA9A-1891-4A12-A67A-C255C37B63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234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gif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15DA2DE-7B2E-2284-D384-89320950D310}"/>
              </a:ext>
            </a:extLst>
          </p:cNvPr>
          <p:cNvSpPr txBox="1"/>
          <p:nvPr/>
        </p:nvSpPr>
        <p:spPr>
          <a:xfrm>
            <a:off x="352769" y="4886325"/>
            <a:ext cx="10993319" cy="163121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5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Система электронной подачи заявок Бюро пропусков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824D3C-B0D0-DB34-9F02-0F9A960CF22C}"/>
              </a:ext>
            </a:extLst>
          </p:cNvPr>
          <p:cNvSpPr txBox="1"/>
          <p:nvPr/>
        </p:nvSpPr>
        <p:spPr>
          <a:xfrm>
            <a:off x="352769" y="3693886"/>
            <a:ext cx="5072222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Мякотных Сергей Михайлович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F4BE4-3260-9078-64E7-DCF9706FD3D6}"/>
              </a:ext>
            </a:extLst>
          </p:cNvPr>
          <p:cNvSpPr txBox="1"/>
          <p:nvPr/>
        </p:nvSpPr>
        <p:spPr>
          <a:xfrm>
            <a:off x="352769" y="4059272"/>
            <a:ext cx="3733714" cy="40011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sz="2000" i="1" dirty="0">
                <a:solidFill>
                  <a:schemeClr val="bg1">
                    <a:lumMod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Оператор Бюро пропусков</a:t>
            </a:r>
          </a:p>
        </p:txBody>
      </p:sp>
    </p:spTree>
    <p:extLst>
      <p:ext uri="{BB962C8B-B14F-4D97-AF65-F5344CB8AC3E}">
        <p14:creationId xmlns:p14="http://schemas.microsoft.com/office/powerpoint/2010/main" val="2996491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CE302-F9D4-1C4C-1671-26126E0DE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8F27C1C-BC86-8E33-E100-F4EE8AF976EB}"/>
              </a:ext>
            </a:extLst>
          </p:cNvPr>
          <p:cNvSpPr txBox="1"/>
          <p:nvPr/>
        </p:nvSpPr>
        <p:spPr>
          <a:xfrm>
            <a:off x="301969" y="180975"/>
            <a:ext cx="61940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Что за система?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F46831-879D-C4FD-0D0D-C30B1176FB26}"/>
              </a:ext>
            </a:extLst>
          </p:cNvPr>
          <p:cNvSpPr txBox="1"/>
          <p:nvPr/>
        </p:nvSpPr>
        <p:spPr>
          <a:xfrm>
            <a:off x="352768" y="1034605"/>
            <a:ext cx="10226331" cy="83099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Централизованная система приема, обработки, согласования и учета заявок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9DB5F08-283A-D193-9CE2-F5DAC92AE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68" y="2201637"/>
            <a:ext cx="10065542" cy="418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36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847F0-3006-2ADB-904E-1E5F3E532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B88B1B7-96B2-763A-3009-898E0C0987CA}"/>
              </a:ext>
            </a:extLst>
          </p:cNvPr>
          <p:cNvSpPr txBox="1"/>
          <p:nvPr/>
        </p:nvSpPr>
        <p:spPr>
          <a:xfrm>
            <a:off x="301969" y="180975"/>
            <a:ext cx="11705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Интеллектуальная собственность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C71140-1C98-425F-7435-66CD43432FB3}"/>
              </a:ext>
            </a:extLst>
          </p:cNvPr>
          <p:cNvSpPr txBox="1"/>
          <p:nvPr/>
        </p:nvSpPr>
        <p:spPr>
          <a:xfrm>
            <a:off x="301969" y="1282700"/>
            <a:ext cx="11322330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Уникальный продукт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После совершения сделки система полностью переходит компании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4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Разработчик не имеет прав на монетизацию системы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Разработчик имеет право на использование проекта в </a:t>
            </a:r>
            <a:r>
              <a:rPr lang="ru-RU" sz="24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протфолио</a:t>
            </a:r>
            <a:endParaRPr lang="ru-RU" sz="24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5971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4727E-FB61-9D6D-4B7C-0BF458B5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CA75F7-FABE-C790-481D-B5C60C13A7F3}"/>
              </a:ext>
            </a:extLst>
          </p:cNvPr>
          <p:cNvSpPr txBox="1"/>
          <p:nvPr/>
        </p:nvSpPr>
        <p:spPr>
          <a:xfrm>
            <a:off x="301969" y="180975"/>
            <a:ext cx="10562881" cy="86177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Принцип</a:t>
            </a:r>
            <a:r>
              <a:rPr lang="ru-RU" sz="5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работы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06DA055-AAC9-0D49-548F-3A1D06080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69" y="1298819"/>
            <a:ext cx="11456894" cy="4994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286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BD20B-D6BA-47F6-2C2A-E21520991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1013D2B-E93C-AF90-94A9-9264477DFFE6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Авторизация </a:t>
            </a:r>
            <a:r>
              <a:rPr lang="en-US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 </a:t>
            </a:r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Вход в систему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F58695F-52DD-A68B-0C02-700CAD7A2C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696" y="1123950"/>
            <a:ext cx="9504404" cy="539820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97975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D9D59-C965-E9CA-47CA-0F8EEF1A8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053C297-B4DD-D0BD-F678-1162C8D3A13D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Навигация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861AF9A-A664-E510-E8E2-2E787C322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458" y="276225"/>
            <a:ext cx="5629142" cy="646093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08C493E-4C3F-7ACD-E741-6FAC4D530573}"/>
              </a:ext>
            </a:extLst>
          </p:cNvPr>
          <p:cNvSpPr txBox="1"/>
          <p:nvPr/>
        </p:nvSpPr>
        <p:spPr>
          <a:xfrm>
            <a:off x="206719" y="1273856"/>
            <a:ext cx="4838489" cy="424731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Центр заявок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входящие заявки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Вложения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доступ к вложениям </a:t>
            </a: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Новая заявка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подать заявку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Таблицы 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- все таблицы КПП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Сотрудники 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- управление сотрудниками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Автомобили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управление автомобилями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Аналитика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статистика, отчёты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Админка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управление системой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Обзор и новости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информация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Личный кабинет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аккаунт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7806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21AD4-5BC5-4209-460E-568783173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362D398-8256-1FCC-7477-5277CFD95F6B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Шапка (верхняя панель)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1FB87-DDA7-424B-C83E-16EBC1D329BF}"/>
              </a:ext>
            </a:extLst>
          </p:cNvPr>
          <p:cNvSpPr txBox="1"/>
          <p:nvPr/>
        </p:nvSpPr>
        <p:spPr>
          <a:xfrm>
            <a:off x="301968" y="1168400"/>
            <a:ext cx="10562881" cy="20313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Кнопка обратной связи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написать в случае ошибки или предложения по улучшению системы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Объявление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- важное сообщение для всех пользователей, например: “Проведение технических работ в системе”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Информация о текущей дате и времени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Уведомления пользователя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Создание новой заявки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5E830D-A8F4-D923-BCB1-AFEF49C85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68" y="3729908"/>
            <a:ext cx="11572532" cy="62217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CFC6021-3A78-C21C-0E55-9656402F3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4477640"/>
            <a:ext cx="11572532" cy="540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28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C9F19-FA1A-03CE-232A-7FE035099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79FE2E3-AAC0-E37B-2C74-AFBC6C754291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Обзор и новости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A7985DA-CD57-793C-8D33-26125E5766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69" y="1079501"/>
            <a:ext cx="9591331" cy="5538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5660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0EA56-2695-DE02-B4A8-01347684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72F3645-EFBE-36BB-ABA9-990B63E7F219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Центр заявок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5126F27-4CD5-2976-AB05-F32F08C44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69" y="1070238"/>
            <a:ext cx="9633055" cy="55528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0691B0-D8EC-A276-E2D4-83D8C7B4C525}"/>
              </a:ext>
            </a:extLst>
          </p:cNvPr>
          <p:cNvSpPr txBox="1"/>
          <p:nvPr/>
        </p:nvSpPr>
        <p:spPr>
          <a:xfrm>
            <a:off x="10007630" y="4903514"/>
            <a:ext cx="2100288" cy="147732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Гибкий поиск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Фильтры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Сортировка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Теги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Скачивание</a:t>
            </a: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15C94C76-FA75-08BF-2B3E-BF21DD27B200}"/>
              </a:ext>
            </a:extLst>
          </p:cNvPr>
          <p:cNvCxnSpPr>
            <a:cxnSpLocks/>
          </p:cNvCxnSpPr>
          <p:nvPr/>
        </p:nvCxnSpPr>
        <p:spPr>
          <a:xfrm>
            <a:off x="10109200" y="4717143"/>
            <a:ext cx="18796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336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3553-93DC-4F5F-5054-9089D1476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C3854D9-83B7-66FD-CE8B-590889739884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Просмотр заявки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01E1B19-288B-D31A-1641-A030A6FE8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69" y="1084805"/>
            <a:ext cx="10126545" cy="5534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371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8E824-EF73-4E3A-2AAA-F041B26FB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706E80-E794-B16E-D9A2-C17C0AD2D123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Оформление и подача заявки</a:t>
            </a:r>
          </a:p>
        </p:txBody>
      </p:sp>
    </p:spTree>
    <p:extLst>
      <p:ext uri="{BB962C8B-B14F-4D97-AF65-F5344CB8AC3E}">
        <p14:creationId xmlns:p14="http://schemas.microsoft.com/office/powerpoint/2010/main" val="6973052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3DCD4-CD99-1CF1-0B7D-02C78B5DB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2364F6D-C8D3-7517-890F-EC330BCB7A88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Таблицы системы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274305-7FE8-2F40-5B26-945B86C27F1E}"/>
              </a:ext>
            </a:extLst>
          </p:cNvPr>
          <p:cNvSpPr txBox="1"/>
          <p:nvPr/>
        </p:nvSpPr>
        <p:spPr>
          <a:xfrm>
            <a:off x="301969" y="1037772"/>
            <a:ext cx="10493828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В системе существуют </a:t>
            </a:r>
            <a:r>
              <a:rPr lang="ru-RU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таблицы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– вкладки с данными, которые привязаны к </a:t>
            </a:r>
            <a:r>
              <a:rPr lang="ru-RU" u="sng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посту охраны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и содержат информацию о пропусках на людей и машины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5A7472-71E0-7239-D0CB-366536C5C593}"/>
              </a:ext>
            </a:extLst>
          </p:cNvPr>
          <p:cNvSpPr txBox="1"/>
          <p:nvPr/>
        </p:nvSpPr>
        <p:spPr>
          <a:xfrm>
            <a:off x="301969" y="1833014"/>
            <a:ext cx="11454602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Каждый охранник имеет </a:t>
            </a:r>
            <a:r>
              <a:rPr lang="ru-RU" u="sng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доступ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 к определенным таблицам и ведет контрольно-пропускную деятельность, основываясь на данных в таблице.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420E97-99E5-5834-B998-BDAA5877C025}"/>
              </a:ext>
            </a:extLst>
          </p:cNvPr>
          <p:cNvSpPr txBox="1"/>
          <p:nvPr/>
        </p:nvSpPr>
        <p:spPr>
          <a:xfrm>
            <a:off x="301969" y="2628256"/>
            <a:ext cx="11454602" cy="258532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Сейчас существуют следующие посты, имеющие оборудование для работы с системой:</a:t>
            </a:r>
          </a:p>
          <a:p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КПП №4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ПОСТ СЕВЕР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ПОСТ №72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ПОСТ №21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ПОСТ №27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Dream Beach Club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КИНО-КОНЦЕРТНЫЙ ЗАЛ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55A76A-5ABA-BD1E-938C-591E31361B4B}"/>
              </a:ext>
            </a:extLst>
          </p:cNvPr>
          <p:cNvSpPr txBox="1"/>
          <p:nvPr/>
        </p:nvSpPr>
        <p:spPr>
          <a:xfrm>
            <a:off x="301969" y="5435062"/>
            <a:ext cx="11454602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В каждой таблице можно открыть привязанную к сотруднику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</a:t>
            </a: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машине заявку для ознакомления.</a:t>
            </a:r>
          </a:p>
        </p:txBody>
      </p:sp>
    </p:spTree>
    <p:extLst>
      <p:ext uri="{BB962C8B-B14F-4D97-AF65-F5344CB8AC3E}">
        <p14:creationId xmlns:p14="http://schemas.microsoft.com/office/powerpoint/2010/main" val="1239670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0573F-6B78-1C8B-FFF3-7E390EC0A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5367605-2689-875D-13AB-49AB77CD304D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Таблица (авто)</a:t>
            </a:r>
          </a:p>
        </p:txBody>
      </p:sp>
    </p:spTree>
    <p:extLst>
      <p:ext uri="{BB962C8B-B14F-4D97-AF65-F5344CB8AC3E}">
        <p14:creationId xmlns:p14="http://schemas.microsoft.com/office/powerpoint/2010/main" val="837085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E4CF-D2A5-F3CC-2E53-E6ABCA80D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B22FB48-8A93-8FB9-7591-3276EE34518D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Личный кабинет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6EA6BD0-9325-F9C4-826D-F90B0C7B8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69" y="1029882"/>
            <a:ext cx="9836260" cy="570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0430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6BAD3-8D07-7F0C-8049-854578ECA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12D9294-95B2-93BB-9403-DA386CE08880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Онбординг</a:t>
            </a:r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и обучение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D3C3F89-468F-F350-971C-4861B844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09" y="1074057"/>
            <a:ext cx="9689348" cy="554837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BD5985A-A197-5DBD-439F-712534B2B5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9882" y="3730171"/>
            <a:ext cx="4162633" cy="2382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401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47433-4779-5A80-D3A4-5982E39B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B607F23-6367-0666-BE2D-F942BAE0158D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Пользовательская документация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4C275B-08CD-6572-DB76-F62F19D06114}"/>
              </a:ext>
            </a:extLst>
          </p:cNvPr>
          <p:cNvSpPr txBox="1"/>
          <p:nvPr/>
        </p:nvSpPr>
        <p:spPr>
          <a:xfrm>
            <a:off x="301969" y="1190171"/>
            <a:ext cx="6506909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Была разработана пользовательская документация: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FA26A2-5940-A085-F8E8-CC6D9A85B231}"/>
              </a:ext>
            </a:extLst>
          </p:cNvPr>
          <p:cNvSpPr txBox="1"/>
          <p:nvPr/>
        </p:nvSpPr>
        <p:spPr>
          <a:xfrm>
            <a:off x="301969" y="2217615"/>
            <a:ext cx="4993675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Руководство пользователя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E93EF6-7CC1-A126-B2F2-BF883D93DC86}"/>
              </a:ext>
            </a:extLst>
          </p:cNvPr>
          <p:cNvSpPr txBox="1"/>
          <p:nvPr/>
        </p:nvSpPr>
        <p:spPr>
          <a:xfrm>
            <a:off x="301969" y="2698596"/>
            <a:ext cx="11636031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Описание базового функционала системы с разбором процесса подачи электронной заявки, управлением и отслеживанием её статуса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BC701F-D6B4-4116-3ACE-339F82C3D90D}"/>
              </a:ext>
            </a:extLst>
          </p:cNvPr>
          <p:cNvSpPr txBox="1"/>
          <p:nvPr/>
        </p:nvSpPr>
        <p:spPr>
          <a:xfrm>
            <a:off x="396312" y="4015569"/>
            <a:ext cx="5440913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Руководство администратора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354DB5-59C8-CFF2-0215-6F1B45BED7ED}"/>
              </a:ext>
            </a:extLst>
          </p:cNvPr>
          <p:cNvSpPr txBox="1"/>
          <p:nvPr/>
        </p:nvSpPr>
        <p:spPr>
          <a:xfrm>
            <a:off x="396312" y="4496550"/>
            <a:ext cx="11636031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Описание функционала настройки и управления системой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EBAAF2-B62D-E8F9-343D-1C2C60755421}"/>
              </a:ext>
            </a:extLst>
          </p:cNvPr>
          <p:cNvSpPr txBox="1"/>
          <p:nvPr/>
        </p:nvSpPr>
        <p:spPr>
          <a:xfrm>
            <a:off x="396312" y="5494715"/>
            <a:ext cx="5113900" cy="46166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Техническая документация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B4AC93-BDD6-5CD6-0F30-2000C885E5D5}"/>
              </a:ext>
            </a:extLst>
          </p:cNvPr>
          <p:cNvSpPr txBox="1"/>
          <p:nvPr/>
        </p:nvSpPr>
        <p:spPr>
          <a:xfrm>
            <a:off x="396312" y="5975696"/>
            <a:ext cx="11636031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Инструкция по развертыванию и сопровождению приложения</a:t>
            </a:r>
          </a:p>
        </p:txBody>
      </p:sp>
    </p:spTree>
    <p:extLst>
      <p:ext uri="{BB962C8B-B14F-4D97-AF65-F5344CB8AC3E}">
        <p14:creationId xmlns:p14="http://schemas.microsoft.com/office/powerpoint/2010/main" val="2217314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765D4-4D01-8940-BDD3-4F080819C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58985FC-5B9C-3781-28E7-F57BF80200FB}"/>
              </a:ext>
            </a:extLst>
          </p:cNvPr>
          <p:cNvSpPr txBox="1"/>
          <p:nvPr/>
        </p:nvSpPr>
        <p:spPr>
          <a:xfrm>
            <a:off x="301969" y="180975"/>
            <a:ext cx="10562881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Что нужно для запуска, план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81FE61-FE06-2657-EED5-461A0D87FE11}"/>
              </a:ext>
            </a:extLst>
          </p:cNvPr>
          <p:cNvSpPr txBox="1"/>
          <p:nvPr/>
        </p:nvSpPr>
        <p:spPr>
          <a:xfrm>
            <a:off x="301969" y="1190171"/>
            <a:ext cx="2696572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Сервер на 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Selectel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D6D6437-7B50-EEB7-9945-4C3C2E19B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371" y="1860813"/>
            <a:ext cx="7561943" cy="77615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0797D01-328E-9E17-CCC3-82D215DF30B9}"/>
              </a:ext>
            </a:extLst>
          </p:cNvPr>
          <p:cNvSpPr txBox="1"/>
          <p:nvPr/>
        </p:nvSpPr>
        <p:spPr>
          <a:xfrm>
            <a:off x="377371" y="2912623"/>
            <a:ext cx="11553372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Какие заявки, организации / лица были выбраны для тестирования:</a:t>
            </a:r>
            <a:endParaRPr lang="ru-RU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7C512C-A56F-F8A9-00AA-631A55904C1A}"/>
              </a:ext>
            </a:extLst>
          </p:cNvPr>
          <p:cNvSpPr txBox="1"/>
          <p:nvPr/>
        </p:nvSpPr>
        <p:spPr>
          <a:xfrm>
            <a:off x="301969" y="3622211"/>
            <a:ext cx="11628774" cy="286232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ООО </a:t>
            </a:r>
            <a:r>
              <a:rPr lang="ru-RU" b="1" dirty="0" err="1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Дримфудс</a:t>
            </a: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- частые </a:t>
            </a:r>
            <a:r>
              <a:rPr lang="ru-RU" dirty="0" err="1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автозаявки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, заявки на проход людей, постоянное место разгрузки и прохода (21 пост + Дебаркадер №5).</a:t>
            </a:r>
            <a:endParaRPr lang="en-US" dirty="0">
              <a:solidFill>
                <a:schemeClr val="bg1"/>
              </a:solidFill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Ответственные </a:t>
            </a: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арендаторы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 (предположительно): Села, </a:t>
            </a:r>
            <a:r>
              <a:rPr lang="ru-RU" dirty="0" err="1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БиФри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, Гиро-</a:t>
            </a:r>
            <a:r>
              <a:rPr lang="ru-RU" dirty="0" err="1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гирос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, Котофей, Мята/Батони, Траттория, </a:t>
            </a:r>
            <a:r>
              <a:rPr lang="ru-RU" dirty="0" err="1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Мегобари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, Ростикс. Согласование отделом аренды.</a:t>
            </a:r>
            <a:endParaRPr lang="en-US" dirty="0">
              <a:solidFill>
                <a:schemeClr val="bg1"/>
              </a:solidFill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b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3. 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Заявки на </a:t>
            </a:r>
            <a:r>
              <a:rPr lang="ru-RU" b="1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бесплатную парковку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. Обработка РПС.</a:t>
            </a:r>
            <a:endParaRPr lang="en-US" dirty="0">
              <a:solidFill>
                <a:schemeClr val="bg1"/>
              </a:solidFill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b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4. </a:t>
            </a:r>
            <a:r>
              <a:rPr lang="ru-RU" dirty="0">
                <a:solidFill>
                  <a:schemeClr val="bg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</a:rPr>
              <a:t>Подрядчики (не на стройку). Чижин Д., Щербина М., Мелёхин П. часто оформляют заявки на подрядчиков.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67588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9FCF-5C52-3210-0192-AD1F9B15A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47757BA-3DEB-62E9-F68A-99216D6D5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770"/>
            <a:ext cx="7590971" cy="2363534"/>
          </a:xfrm>
          <a:prstGeom prst="rect">
            <a:avLst/>
          </a:prstGeom>
        </p:spPr>
      </p:pic>
      <p:pic>
        <p:nvPicPr>
          <p:cNvPr id="7" name="Объект 10">
            <a:extLst>
              <a:ext uri="{FF2B5EF4-FFF2-40B4-BE49-F238E27FC236}">
                <a16:creationId xmlns:a16="http://schemas.microsoft.com/office/drawing/2014/main" id="{A7DBA9D3-C75A-2D21-7BF3-FCF9AE603B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245" y="3429000"/>
            <a:ext cx="2839842" cy="2809875"/>
          </a:xfrm>
          <a:prstGeom prst="roundRect">
            <a:avLst/>
          </a:prstGeom>
          <a:ln>
            <a:solidFill>
              <a:schemeClr val="tx1"/>
            </a:solidFill>
            <a:prstDash val="sysDot"/>
          </a:ln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59C9C0F-1475-D391-11A4-C661EFA4E7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685" y="3175000"/>
            <a:ext cx="3001963" cy="3001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8966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F639C-7DFC-1058-C0E1-C07F2D2D1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656596-E39D-6D6D-0445-C05224AF45B7}"/>
              </a:ext>
            </a:extLst>
          </p:cNvPr>
          <p:cNvSpPr txBox="1"/>
          <p:nvPr/>
        </p:nvSpPr>
        <p:spPr>
          <a:xfrm>
            <a:off x="1132114" y="2706914"/>
            <a:ext cx="9780241" cy="101566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ru-RU" sz="6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97126320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419</Words>
  <Application>Microsoft Office PowerPoint</Application>
  <PresentationFormat>Широкоэкранный</PresentationFormat>
  <Paragraphs>71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Verdana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Сергей Мельников</dc:creator>
  <cp:lastModifiedBy>Сергей Мельников</cp:lastModifiedBy>
  <cp:revision>2</cp:revision>
  <dcterms:created xsi:type="dcterms:W3CDTF">2026-06-20T10:29:08Z</dcterms:created>
  <dcterms:modified xsi:type="dcterms:W3CDTF">2026-06-20T11:54:14Z</dcterms:modified>
</cp:coreProperties>
</file>